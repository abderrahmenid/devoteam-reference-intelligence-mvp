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Montserrat"/>
      <p:regular r:id="rId10"/>
      <p:bold r:id="rId11"/>
      <p:italic r:id="rId12"/>
      <p:boldItalic r:id="rId13"/>
    </p:embeddedFont>
    <p:embeddedFont>
      <p:font typeface="Montserrat Light"/>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Montserrat-bold.fntdata"/><Relationship Id="rId10" Type="http://schemas.openxmlformats.org/officeDocument/2006/relationships/font" Target="fonts/Montserrat-regular.fntdata"/><Relationship Id="rId13" Type="http://schemas.openxmlformats.org/officeDocument/2006/relationships/font" Target="fonts/Montserrat-boldItalic.fntdata"/><Relationship Id="rId12" Type="http://schemas.openxmlformats.org/officeDocument/2006/relationships/font" Target="fonts/Montserra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Light-bold.fntdata"/><Relationship Id="rId14" Type="http://schemas.openxmlformats.org/officeDocument/2006/relationships/font" Target="fonts/MontserratLight-regular.fntdata"/><Relationship Id="rId17" Type="http://schemas.openxmlformats.org/officeDocument/2006/relationships/font" Target="fonts/MontserratLight-boldItalic.fntdata"/><Relationship Id="rId16" Type="http://schemas.openxmlformats.org/officeDocument/2006/relationships/font" Target="fonts/MontserratLight-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6510bc5eb_1_0:notes"/>
          <p:cNvSpPr/>
          <p:nvPr>
            <p:ph idx="2" type="sldImg"/>
          </p:nvPr>
        </p:nvSpPr>
        <p:spPr>
          <a:xfrm>
            <a:off x="381300" y="685800"/>
            <a:ext cx="6096000" cy="3429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g3f6510bc5eb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GB">
                <a:solidFill>
                  <a:schemeClr val="dk1"/>
                </a:solidFill>
              </a:rPr>
              <a:t>Accelerator</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Strategic domain</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rgbClr val="3C3C3A"/>
                </a:solidFill>
              </a:rPr>
              <a:t>Devoteam entity → Digital Impulse / Creative Tech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Dispositif → Mix Impulse / Creative Tech</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Point de contact → Cassandre Monteil </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f6510bc5eb_1_24:notes"/>
          <p:cNvSpPr/>
          <p:nvPr>
            <p:ph idx="2" type="sldImg"/>
          </p:nvPr>
        </p:nvSpPr>
        <p:spPr>
          <a:xfrm>
            <a:off x="381300" y="685800"/>
            <a:ext cx="6096000" cy="3429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g3f6510bc5eb_1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GB">
                <a:solidFill>
                  <a:schemeClr val="dk1"/>
                </a:solidFill>
              </a:rPr>
              <a:t>Accelerator</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Strategic domain</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rgbClr val="3C3C3A"/>
                </a:solidFill>
              </a:rPr>
              <a:t>Devoteam entity → Digital Impulse / Creative Tech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Dispositif → Mix Impulse / Creative Tech</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Point de contact → Cassandre Monteil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6510bc5eb_1_48:notes"/>
          <p:cNvSpPr/>
          <p:nvPr>
            <p:ph idx="2" type="sldImg"/>
          </p:nvPr>
        </p:nvSpPr>
        <p:spPr>
          <a:xfrm>
            <a:off x="381300" y="685800"/>
            <a:ext cx="6096000" cy="3429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3f6510bc5eb_1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GB">
                <a:solidFill>
                  <a:schemeClr val="dk1"/>
                </a:solidFill>
              </a:rPr>
              <a:t>Accelerator</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Strategic domain</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rgbClr val="3C3C3A"/>
                </a:solidFill>
              </a:rPr>
              <a:t>Devoteam entity → Digital Impulse / Creative Tech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Dispositif → Mix Impulse / Creative Tech</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Point de contact → Cassandre Monteil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6510bc5eb_1_72:notes"/>
          <p:cNvSpPr/>
          <p:nvPr>
            <p:ph idx="2" type="sldImg"/>
          </p:nvPr>
        </p:nvSpPr>
        <p:spPr>
          <a:xfrm>
            <a:off x="381300" y="685800"/>
            <a:ext cx="6096000" cy="3429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g3f6510bc5eb_1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GB">
                <a:solidFill>
                  <a:schemeClr val="dk1"/>
                </a:solidFill>
              </a:rPr>
              <a:t>Accelerator</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Strategic domain</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rgbClr val="3C3C3A"/>
                </a:solidFill>
              </a:rPr>
              <a:t>Devoteam entity → Digital Impulse / Creative Tech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Dispositif → Mix Impulse / Creative Tech</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Point de contact → Cassandre Monteil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6.jpg"/><Relationship Id="rId6" Type="http://schemas.openxmlformats.org/officeDocument/2006/relationships/image" Target="../media/image8.png"/><Relationship Id="rId7"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7.png"/><Relationship Id="rId7"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6.jpg"/><Relationship Id="rId6" Type="http://schemas.openxmlformats.org/officeDocument/2006/relationships/image" Target="../media/image8.png"/><Relationship Id="rId7"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b="448" l="0" r="8983" t="21004"/>
          <a:stretch/>
        </p:blipFill>
        <p:spPr>
          <a:xfrm>
            <a:off x="-319325" y="-883725"/>
            <a:ext cx="3162900" cy="2977200"/>
          </a:xfrm>
          <a:prstGeom prst="ellipse">
            <a:avLst/>
          </a:prstGeom>
          <a:noFill/>
          <a:ln>
            <a:noFill/>
          </a:ln>
        </p:spPr>
      </p:pic>
      <p:sp>
        <p:nvSpPr>
          <p:cNvPr id="55" name="Google Shape;55;p13"/>
          <p:cNvSpPr txBox="1"/>
          <p:nvPr>
            <p:ph idx="4294967295" type="subTitle"/>
          </p:nvPr>
        </p:nvSpPr>
        <p:spPr>
          <a:xfrm>
            <a:off x="297725" y="2855806"/>
            <a:ext cx="2466000" cy="7929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0" i="0" lang="en-GB" sz="1200" u="none" cap="none" strike="noStrike">
                <a:solidFill>
                  <a:schemeClr val="dk1"/>
                </a:solidFill>
                <a:latin typeface="Montserrat"/>
                <a:ea typeface="Montserrat"/>
                <a:cs typeface="Montserrat"/>
                <a:sym typeface="Montserrat"/>
              </a:rPr>
              <a:t>Identification, analyse, priorisation et la préparation à l’implémentation des IAG dans ses services digitaux</a:t>
            </a:r>
            <a:endParaRPr b="0" i="0" sz="1200" u="none" cap="none" strike="noStrike">
              <a:solidFill>
                <a:schemeClr val="dk1"/>
              </a:solidFill>
              <a:latin typeface="Montserrat"/>
              <a:ea typeface="Montserrat"/>
              <a:cs typeface="Montserrat"/>
              <a:sym typeface="Montserrat"/>
            </a:endParaRPr>
          </a:p>
        </p:txBody>
      </p:sp>
      <p:sp>
        <p:nvSpPr>
          <p:cNvPr id="56" name="Google Shape;56;p13"/>
          <p:cNvSpPr txBox="1"/>
          <p:nvPr>
            <p:ph idx="4294967295" type="body"/>
          </p:nvPr>
        </p:nvSpPr>
        <p:spPr>
          <a:xfrm>
            <a:off x="3458175" y="1953552"/>
            <a:ext cx="5464200" cy="104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EB475E"/>
                </a:solidFill>
                <a:latin typeface="Montserrat"/>
                <a:ea typeface="Montserrat"/>
                <a:cs typeface="Montserrat"/>
                <a:sym typeface="Montserrat"/>
              </a:rPr>
              <a:t>Réalisations </a:t>
            </a:r>
            <a:endParaRPr b="0" i="0" sz="900" u="none" cap="none" strike="noStrike">
              <a:solidFill>
                <a:srgbClr val="EB475E"/>
              </a:solidFill>
              <a:latin typeface="Montserrat"/>
              <a:ea typeface="Montserrat"/>
              <a:cs typeface="Montserrat"/>
              <a:sym typeface="Montserrat"/>
            </a:endParaRPr>
          </a:p>
          <a:p>
            <a:pPr indent="-152400" lvl="0" marL="180000" marR="0" rtl="0" algn="just">
              <a:lnSpc>
                <a:spcPct val="105000"/>
              </a:lnSpc>
              <a:spcBef>
                <a:spcPts val="0"/>
              </a:spcBef>
              <a:spcAft>
                <a:spcPts val="0"/>
              </a:spcAft>
              <a:buClr>
                <a:schemeClr val="dk1"/>
              </a:buClr>
              <a:buSzPts val="900"/>
              <a:buFont typeface="Montserrat"/>
              <a:buChar char="●"/>
            </a:pPr>
            <a:r>
              <a:rPr b="0" i="0" lang="en-GB" sz="900" u="none" cap="none" strike="noStrike">
                <a:solidFill>
                  <a:schemeClr val="dk1"/>
                </a:solidFill>
                <a:latin typeface="Montserrat"/>
                <a:ea typeface="Montserrat"/>
                <a:cs typeface="Montserrat"/>
                <a:sym typeface="Montserrat"/>
              </a:rPr>
              <a:t>Identification des cas d’usage</a:t>
            </a:r>
            <a:endParaRPr b="0" i="0" sz="900" u="none" cap="none" strike="noStrike">
              <a:solidFill>
                <a:schemeClr val="dk1"/>
              </a:solidFill>
              <a:latin typeface="Montserrat"/>
              <a:ea typeface="Montserrat"/>
              <a:cs typeface="Montserrat"/>
              <a:sym typeface="Montserrat"/>
            </a:endParaRPr>
          </a:p>
          <a:p>
            <a:pPr indent="-161925" lvl="1" marL="360001" marR="0" rtl="0" algn="just">
              <a:lnSpc>
                <a:spcPct val="105000"/>
              </a:lnSpc>
              <a:spcBef>
                <a:spcPts val="0"/>
              </a:spcBef>
              <a:spcAft>
                <a:spcPts val="0"/>
              </a:spcAft>
              <a:buClr>
                <a:schemeClr val="dk1"/>
              </a:buClr>
              <a:buSzPts val="900"/>
              <a:buFont typeface="Montserrat"/>
              <a:buChar char="○"/>
            </a:pPr>
            <a:r>
              <a:rPr b="1" i="0" lang="en-GB" sz="900" u="none" cap="none" strike="noStrike">
                <a:solidFill>
                  <a:schemeClr val="dk1"/>
                </a:solidFill>
                <a:latin typeface="Montserrat"/>
                <a:ea typeface="Montserrat"/>
                <a:cs typeface="Montserrat"/>
                <a:sym typeface="Montserrat"/>
              </a:rPr>
              <a:t>15 cas d’usage étudiés et chiffrés sur les 150 identifiés</a:t>
            </a:r>
            <a:endParaRPr b="1" i="0" sz="900" u="none" cap="none" strike="noStrike">
              <a:solidFill>
                <a:schemeClr val="dk1"/>
              </a:solidFill>
              <a:latin typeface="Montserrat"/>
              <a:ea typeface="Montserrat"/>
              <a:cs typeface="Montserrat"/>
              <a:sym typeface="Montserrat"/>
            </a:endParaRPr>
          </a:p>
          <a:p>
            <a:pPr indent="-161925" lvl="1" marL="360001" marR="0" rtl="0" algn="just">
              <a:lnSpc>
                <a:spcPct val="105000"/>
              </a:lnSpc>
              <a:spcBef>
                <a:spcPts val="0"/>
              </a:spcBef>
              <a:spcAft>
                <a:spcPts val="0"/>
              </a:spcAft>
              <a:buClr>
                <a:schemeClr val="dk1"/>
              </a:buClr>
              <a:buSzPts val="900"/>
              <a:buFont typeface="Montserrat"/>
              <a:buChar char="○"/>
            </a:pPr>
            <a:r>
              <a:rPr b="1" i="0" lang="en-GB" sz="900" u="none" cap="none" strike="noStrike">
                <a:solidFill>
                  <a:schemeClr val="dk1"/>
                </a:solidFill>
                <a:latin typeface="Montserrat"/>
                <a:ea typeface="Montserrat"/>
                <a:cs typeface="Montserrat"/>
                <a:sym typeface="Montserrat"/>
              </a:rPr>
              <a:t>15 scénarios </a:t>
            </a:r>
            <a:r>
              <a:rPr b="0" i="0" lang="en-GB" sz="900" u="none" cap="none" strike="noStrike">
                <a:solidFill>
                  <a:schemeClr val="dk1"/>
                </a:solidFill>
                <a:latin typeface="Montserrat"/>
                <a:ea typeface="Montserrat"/>
                <a:cs typeface="Montserrat"/>
                <a:sym typeface="Montserrat"/>
              </a:rPr>
              <a:t>d’implémentation établis pour les 5 macros cas d’usage retenus</a:t>
            </a:r>
            <a:endParaRPr b="0" i="0" sz="900" u="none" cap="none" strike="noStrike">
              <a:solidFill>
                <a:schemeClr val="dk1"/>
              </a:solidFill>
              <a:latin typeface="Montserrat"/>
              <a:ea typeface="Montserrat"/>
              <a:cs typeface="Montserrat"/>
              <a:sym typeface="Montserrat"/>
            </a:endParaRPr>
          </a:p>
          <a:p>
            <a:pPr indent="-152400" lvl="0" marL="180000" marR="0" rtl="0" algn="just">
              <a:lnSpc>
                <a:spcPct val="105000"/>
              </a:lnSpc>
              <a:spcBef>
                <a:spcPts val="0"/>
              </a:spcBef>
              <a:spcAft>
                <a:spcPts val="0"/>
              </a:spcAft>
              <a:buClr>
                <a:schemeClr val="dk1"/>
              </a:buClr>
              <a:buSzPts val="900"/>
              <a:buFont typeface="Montserrat"/>
              <a:buChar char="●"/>
            </a:pPr>
            <a:r>
              <a:rPr b="1" i="0" lang="en-GB" sz="900" u="none" cap="none" strike="noStrike">
                <a:solidFill>
                  <a:schemeClr val="dk1"/>
                </a:solidFill>
                <a:latin typeface="Montserrat"/>
                <a:ea typeface="Montserrat"/>
                <a:cs typeface="Montserrat"/>
                <a:sym typeface="Montserrat"/>
              </a:rPr>
              <a:t>Analyse coût / bénéfices faisabilité et portée</a:t>
            </a:r>
            <a:endParaRPr b="1" i="0" sz="900" u="none" cap="none" strike="noStrike">
              <a:solidFill>
                <a:schemeClr val="dk1"/>
              </a:solidFill>
              <a:latin typeface="Montserrat"/>
              <a:ea typeface="Montserrat"/>
              <a:cs typeface="Montserrat"/>
              <a:sym typeface="Montserrat"/>
            </a:endParaRPr>
          </a:p>
          <a:p>
            <a:pPr indent="-161925" lvl="1" marL="360001" marR="0" rtl="0" algn="just">
              <a:lnSpc>
                <a:spcPct val="105000"/>
              </a:lnSpc>
              <a:spcBef>
                <a:spcPts val="0"/>
              </a:spcBef>
              <a:spcAft>
                <a:spcPts val="0"/>
              </a:spcAft>
              <a:buClr>
                <a:schemeClr val="dk1"/>
              </a:buClr>
              <a:buSzPts val="900"/>
              <a:buFont typeface="Montserrat"/>
              <a:buChar char="○"/>
            </a:pPr>
            <a:r>
              <a:rPr b="0" i="0" lang="en-GB" sz="900" u="none" cap="none" strike="noStrike">
                <a:solidFill>
                  <a:schemeClr val="dk1"/>
                </a:solidFill>
                <a:latin typeface="Montserrat"/>
                <a:ea typeface="Montserrat"/>
                <a:cs typeface="Montserrat"/>
                <a:sym typeface="Montserrat"/>
              </a:rPr>
              <a:t>Évaluation des coûts de Build et de Run ainsi que les gains / économies : </a:t>
            </a:r>
            <a:r>
              <a:rPr b="1" i="0" lang="en-GB" sz="900" u="none" cap="none" strike="noStrike">
                <a:solidFill>
                  <a:schemeClr val="dk1"/>
                </a:solidFill>
                <a:latin typeface="Montserrat"/>
                <a:ea typeface="Montserrat"/>
                <a:cs typeface="Montserrat"/>
                <a:sym typeface="Montserrat"/>
              </a:rPr>
              <a:t>+27M€ par an</a:t>
            </a:r>
            <a:endParaRPr b="1" i="0" sz="900" u="none" cap="none" strike="noStrike">
              <a:solidFill>
                <a:schemeClr val="dk1"/>
              </a:solidFill>
              <a:latin typeface="Montserrat"/>
              <a:ea typeface="Montserrat"/>
              <a:cs typeface="Montserrat"/>
              <a:sym typeface="Montserrat"/>
            </a:endParaRPr>
          </a:p>
          <a:p>
            <a:pPr indent="-152400" lvl="0" marL="180000" marR="0" rtl="0" algn="just">
              <a:lnSpc>
                <a:spcPct val="105000"/>
              </a:lnSpc>
              <a:spcBef>
                <a:spcPts val="0"/>
              </a:spcBef>
              <a:spcAft>
                <a:spcPts val="0"/>
              </a:spcAft>
              <a:buClr>
                <a:schemeClr val="dk1"/>
              </a:buClr>
              <a:buSzPts val="900"/>
              <a:buFont typeface="Montserrat"/>
              <a:buChar char="●"/>
            </a:pPr>
            <a:r>
              <a:rPr b="1" i="0" lang="en-GB" sz="900" u="none" cap="none" strike="noStrike">
                <a:solidFill>
                  <a:schemeClr val="dk1"/>
                </a:solidFill>
                <a:latin typeface="Montserrat"/>
                <a:ea typeface="Montserrat"/>
                <a:cs typeface="Montserrat"/>
                <a:sym typeface="Montserrat"/>
              </a:rPr>
              <a:t>Priorisation et choix des solutions</a:t>
            </a:r>
            <a:endParaRPr b="1" i="0" sz="900" u="none" cap="none" strike="noStrike">
              <a:solidFill>
                <a:schemeClr val="dk1"/>
              </a:solidFill>
              <a:latin typeface="Montserrat"/>
              <a:ea typeface="Montserrat"/>
              <a:cs typeface="Montserrat"/>
              <a:sym typeface="Montserrat"/>
            </a:endParaRPr>
          </a:p>
          <a:p>
            <a:pPr indent="-161925" lvl="1" marL="360001" marR="0" rtl="0" algn="just">
              <a:lnSpc>
                <a:spcPct val="105000"/>
              </a:lnSpc>
              <a:spcBef>
                <a:spcPts val="0"/>
              </a:spcBef>
              <a:spcAft>
                <a:spcPts val="0"/>
              </a:spcAft>
              <a:buClr>
                <a:schemeClr val="dk1"/>
              </a:buClr>
              <a:buSzPts val="900"/>
              <a:buFont typeface="Montserrat"/>
              <a:buChar char="○"/>
            </a:pPr>
            <a:r>
              <a:rPr b="0" i="0" lang="en-GB" sz="900" u="none" cap="none" strike="noStrike">
                <a:solidFill>
                  <a:schemeClr val="dk1"/>
                </a:solidFill>
                <a:latin typeface="Montserrat"/>
                <a:ea typeface="Montserrat"/>
                <a:cs typeface="Montserrat"/>
                <a:sym typeface="Montserrat"/>
              </a:rPr>
              <a:t>Priorisation via une </a:t>
            </a:r>
            <a:r>
              <a:rPr b="1" i="0" lang="en-GB" sz="900" u="none" cap="none" strike="noStrike">
                <a:solidFill>
                  <a:schemeClr val="dk1"/>
                </a:solidFill>
                <a:latin typeface="Montserrat"/>
                <a:ea typeface="Montserrat"/>
                <a:cs typeface="Montserrat"/>
                <a:sym typeface="Montserrat"/>
              </a:rPr>
              <a:t>matrice Accessibilité / Reach et bénéfices escomptés</a:t>
            </a:r>
            <a:endParaRPr b="1" i="0" sz="900" u="none" cap="none" strike="noStrike">
              <a:solidFill>
                <a:schemeClr val="dk1"/>
              </a:solidFill>
              <a:latin typeface="Montserrat"/>
              <a:ea typeface="Montserrat"/>
              <a:cs typeface="Montserrat"/>
              <a:sym typeface="Montserrat"/>
            </a:endParaRPr>
          </a:p>
          <a:p>
            <a:pPr indent="-152400" lvl="0" marL="180000" marR="0" rtl="0" algn="just">
              <a:lnSpc>
                <a:spcPct val="105000"/>
              </a:lnSpc>
              <a:spcBef>
                <a:spcPts val="0"/>
              </a:spcBef>
              <a:spcAft>
                <a:spcPts val="0"/>
              </a:spcAft>
              <a:buClr>
                <a:schemeClr val="dk1"/>
              </a:buClr>
              <a:buSzPts val="900"/>
              <a:buFont typeface="Montserrat"/>
              <a:buChar char="●"/>
            </a:pPr>
            <a:r>
              <a:rPr b="1" i="0" lang="en-GB" sz="900" u="none" cap="none" strike="noStrike">
                <a:solidFill>
                  <a:schemeClr val="dk1"/>
                </a:solidFill>
                <a:latin typeface="Montserrat"/>
                <a:ea typeface="Montserrat"/>
                <a:cs typeface="Montserrat"/>
                <a:sym typeface="Montserrat"/>
              </a:rPr>
              <a:t>Mise en oeuvre d’un POV (proof of value) avec un hyperscaler sur les quick-wins</a:t>
            </a:r>
            <a:endParaRPr b="1" i="0" sz="900" u="none" cap="none" strike="noStrike">
              <a:solidFill>
                <a:schemeClr val="dk1"/>
              </a:solidFill>
              <a:latin typeface="Montserrat"/>
              <a:ea typeface="Montserrat"/>
              <a:cs typeface="Montserrat"/>
              <a:sym typeface="Montserrat"/>
            </a:endParaRPr>
          </a:p>
          <a:p>
            <a:pPr indent="0" lvl="0" marL="0" marR="0" rtl="0" algn="l">
              <a:lnSpc>
                <a:spcPct val="105000"/>
              </a:lnSpc>
              <a:spcBef>
                <a:spcPts val="0"/>
              </a:spcBef>
              <a:spcAft>
                <a:spcPts val="0"/>
              </a:spcAft>
              <a:buClr>
                <a:srgbClr val="000000"/>
              </a:buClr>
              <a:buSzPts val="900"/>
              <a:buFont typeface="Arial"/>
              <a:buNone/>
            </a:pPr>
            <a:r>
              <a:t/>
            </a:r>
            <a:endParaRPr b="0" i="0" sz="900" u="none" cap="none" strike="noStrike">
              <a:solidFill>
                <a:schemeClr val="dk1"/>
              </a:solidFill>
              <a:latin typeface="Montserrat"/>
              <a:ea typeface="Montserrat"/>
              <a:cs typeface="Montserrat"/>
              <a:sym typeface="Montserrat"/>
            </a:endParaRPr>
          </a:p>
        </p:txBody>
      </p:sp>
      <p:sp>
        <p:nvSpPr>
          <p:cNvPr id="57" name="Google Shape;57;p13"/>
          <p:cNvSpPr txBox="1"/>
          <p:nvPr>
            <p:ph idx="4294967295" type="body"/>
          </p:nvPr>
        </p:nvSpPr>
        <p:spPr>
          <a:xfrm>
            <a:off x="3458175" y="747234"/>
            <a:ext cx="5585700" cy="792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F8475E"/>
                </a:solidFill>
                <a:latin typeface="Montserrat"/>
                <a:ea typeface="Montserrat"/>
                <a:cs typeface="Montserrat"/>
                <a:sym typeface="Montserrat"/>
              </a:rPr>
              <a:t>Challenges </a:t>
            </a:r>
            <a:endParaRPr b="0" i="0" sz="900" u="none" cap="none" strike="noStrike">
              <a:solidFill>
                <a:srgbClr val="F8475E"/>
              </a:solidFill>
              <a:latin typeface="Montserrat"/>
              <a:ea typeface="Montserrat"/>
              <a:cs typeface="Montserrat"/>
              <a:sym typeface="Montserrat"/>
            </a:endParaRPr>
          </a:p>
          <a:p>
            <a:pPr indent="-152400" lvl="0" marL="180000" marR="0" rtl="0" algn="just">
              <a:lnSpc>
                <a:spcPct val="105000"/>
              </a:lnSpc>
              <a:spcBef>
                <a:spcPts val="0"/>
              </a:spcBef>
              <a:spcAft>
                <a:spcPts val="0"/>
              </a:spcAft>
              <a:buClr>
                <a:schemeClr val="dk1"/>
              </a:buClr>
              <a:buSzPts val="900"/>
              <a:buFont typeface="Montserrat"/>
              <a:buChar char="●"/>
            </a:pPr>
            <a:r>
              <a:rPr b="0" i="0" lang="en-GB" sz="900" u="none" cap="none" strike="noStrike">
                <a:solidFill>
                  <a:schemeClr val="dk1"/>
                </a:solidFill>
                <a:latin typeface="Montserrat"/>
                <a:ea typeface="Montserrat"/>
                <a:cs typeface="Montserrat"/>
                <a:sym typeface="Montserrat"/>
              </a:rPr>
              <a:t>Identifier et sélectionner les</a:t>
            </a:r>
            <a:r>
              <a:rPr b="1" i="0" lang="en-GB" sz="900" u="none" cap="none" strike="noStrike">
                <a:solidFill>
                  <a:schemeClr val="dk1"/>
                </a:solidFill>
                <a:latin typeface="Montserrat"/>
                <a:ea typeface="Montserrat"/>
                <a:cs typeface="Montserrat"/>
                <a:sym typeface="Montserrat"/>
              </a:rPr>
              <a:t> cas d’usages d’IA générative à plus haute valeur</a:t>
            </a:r>
            <a:endParaRPr b="1" i="0" sz="900" u="none" cap="none" strike="noStrike">
              <a:solidFill>
                <a:schemeClr val="dk1"/>
              </a:solidFill>
              <a:latin typeface="Montserrat"/>
              <a:ea typeface="Montserrat"/>
              <a:cs typeface="Montserrat"/>
              <a:sym typeface="Montserrat"/>
            </a:endParaRPr>
          </a:p>
          <a:p>
            <a:pPr indent="-152400" lvl="0" marL="180000" marR="0" rtl="0" algn="just">
              <a:lnSpc>
                <a:spcPct val="105000"/>
              </a:lnSpc>
              <a:spcBef>
                <a:spcPts val="0"/>
              </a:spcBef>
              <a:spcAft>
                <a:spcPts val="0"/>
              </a:spcAft>
              <a:buClr>
                <a:schemeClr val="dk1"/>
              </a:buClr>
              <a:buSzPts val="900"/>
              <a:buFont typeface="Montserrat"/>
              <a:buChar char="●"/>
            </a:pPr>
            <a:r>
              <a:rPr b="0" i="0" lang="en-GB" sz="900" u="none" cap="none" strike="noStrike">
                <a:solidFill>
                  <a:schemeClr val="dk1"/>
                </a:solidFill>
                <a:latin typeface="Montserrat"/>
                <a:ea typeface="Montserrat"/>
                <a:cs typeface="Montserrat"/>
                <a:sym typeface="Montserrat"/>
              </a:rPr>
              <a:t>Adresser l’ensemble des </a:t>
            </a:r>
            <a:r>
              <a:rPr b="1" i="0" lang="en-GB" sz="900" u="none" cap="none" strike="noStrike">
                <a:solidFill>
                  <a:schemeClr val="dk1"/>
                </a:solidFill>
                <a:latin typeface="Montserrat"/>
                <a:ea typeface="Montserrat"/>
                <a:cs typeface="Montserrat"/>
                <a:sym typeface="Montserrat"/>
              </a:rPr>
              <a:t>dimensions techniques et réglementaires </a:t>
            </a:r>
            <a:r>
              <a:rPr b="0" i="0" lang="en-GB" sz="900" u="none" cap="none" strike="noStrike">
                <a:solidFill>
                  <a:schemeClr val="dk1"/>
                </a:solidFill>
                <a:latin typeface="Montserrat"/>
                <a:ea typeface="Montserrat"/>
                <a:cs typeface="Montserrat"/>
                <a:sym typeface="Montserrat"/>
              </a:rPr>
              <a:t>nécessaires à la mise en place d’IA générative dans le secteur financier</a:t>
            </a:r>
            <a:endParaRPr b="0" i="0" sz="900" u="none" cap="none" strike="noStrike">
              <a:solidFill>
                <a:schemeClr val="dk1"/>
              </a:solidFill>
              <a:latin typeface="Montserrat"/>
              <a:ea typeface="Montserrat"/>
              <a:cs typeface="Montserrat"/>
              <a:sym typeface="Montserrat"/>
            </a:endParaRPr>
          </a:p>
          <a:p>
            <a:pPr indent="-152400" lvl="0" marL="180000" marR="0" rtl="0" algn="just">
              <a:lnSpc>
                <a:spcPct val="105000"/>
              </a:lnSpc>
              <a:spcBef>
                <a:spcPts val="0"/>
              </a:spcBef>
              <a:spcAft>
                <a:spcPts val="0"/>
              </a:spcAft>
              <a:buClr>
                <a:schemeClr val="dk1"/>
              </a:buClr>
              <a:buSzPts val="900"/>
              <a:buFont typeface="Montserrat"/>
              <a:buChar char="●"/>
            </a:pPr>
            <a:r>
              <a:rPr b="0" i="0" lang="en-GB" sz="900" u="none" cap="none" strike="noStrike">
                <a:solidFill>
                  <a:schemeClr val="dk1"/>
                </a:solidFill>
                <a:latin typeface="Montserrat"/>
                <a:ea typeface="Montserrat"/>
                <a:cs typeface="Montserrat"/>
                <a:sym typeface="Montserrat"/>
              </a:rPr>
              <a:t>Définir une</a:t>
            </a:r>
            <a:r>
              <a:rPr b="1" i="0" lang="en-GB" sz="900" u="none" cap="none" strike="noStrike">
                <a:solidFill>
                  <a:schemeClr val="dk1"/>
                </a:solidFill>
                <a:latin typeface="Montserrat"/>
                <a:ea typeface="Montserrat"/>
                <a:cs typeface="Montserrat"/>
                <a:sym typeface="Montserrat"/>
              </a:rPr>
              <a:t> roadmap technico - fonctionnelle</a:t>
            </a:r>
            <a:r>
              <a:rPr b="0" i="0" lang="en-GB" sz="900" u="none" cap="none" strike="noStrike">
                <a:solidFill>
                  <a:schemeClr val="dk1"/>
                </a:solidFill>
                <a:latin typeface="Montserrat"/>
                <a:ea typeface="Montserrat"/>
                <a:cs typeface="Montserrat"/>
                <a:sym typeface="Montserrat"/>
              </a:rPr>
              <a:t> prenant en compte le dynamisme de la technologie et le calendrier réglementaire</a:t>
            </a:r>
            <a:endParaRPr b="0" i="0" sz="9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Montserrat"/>
              <a:ea typeface="Montserrat"/>
              <a:cs typeface="Montserrat"/>
              <a:sym typeface="Montserrat"/>
            </a:endParaRPr>
          </a:p>
        </p:txBody>
      </p:sp>
      <p:sp>
        <p:nvSpPr>
          <p:cNvPr id="58" name="Google Shape;58;p13"/>
          <p:cNvSpPr txBox="1"/>
          <p:nvPr>
            <p:ph idx="4294967295" type="body"/>
          </p:nvPr>
        </p:nvSpPr>
        <p:spPr>
          <a:xfrm>
            <a:off x="3490475" y="3592090"/>
            <a:ext cx="5464200" cy="634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EB475E"/>
                </a:solidFill>
                <a:latin typeface="Montserrat"/>
                <a:ea typeface="Montserrat"/>
                <a:cs typeface="Montserrat"/>
                <a:sym typeface="Montserrat"/>
              </a:rPr>
              <a:t>Bénéfices</a:t>
            </a:r>
            <a:endParaRPr b="0" i="0" sz="900" u="none" cap="none" strike="noStrike">
              <a:solidFill>
                <a:srgbClr val="EB475E"/>
              </a:solidFill>
              <a:latin typeface="Montserrat"/>
              <a:ea typeface="Montserrat"/>
              <a:cs typeface="Montserrat"/>
              <a:sym typeface="Montserrat"/>
            </a:endParaRPr>
          </a:p>
          <a:p>
            <a:pPr indent="-143551" lvl="0" marL="172800" marR="0" rtl="0" algn="just">
              <a:lnSpc>
                <a:spcPct val="100000"/>
              </a:lnSpc>
              <a:spcBef>
                <a:spcPts val="0"/>
              </a:spcBef>
              <a:spcAft>
                <a:spcPts val="0"/>
              </a:spcAft>
              <a:buClr>
                <a:schemeClr val="dk1"/>
              </a:buClr>
              <a:buSzPts val="900"/>
              <a:buFont typeface="Montserrat"/>
              <a:buChar char="●"/>
            </a:pPr>
            <a:r>
              <a:rPr b="0" i="0" lang="en-GB" sz="900" u="none" cap="none" strike="noStrike">
                <a:solidFill>
                  <a:schemeClr val="dk1"/>
                </a:solidFill>
                <a:latin typeface="Montserrat"/>
                <a:ea typeface="Montserrat"/>
                <a:cs typeface="Montserrat"/>
                <a:sym typeface="Montserrat"/>
              </a:rPr>
              <a:t>Sécurisation du budget pour 2024 sur les cas d’usages à haute valeur ajoutée pour la banque de détail</a:t>
            </a:r>
            <a:endParaRPr b="0" i="0" sz="900" u="none" cap="none" strike="noStrike">
              <a:solidFill>
                <a:schemeClr val="dk1"/>
              </a:solidFill>
              <a:latin typeface="Montserrat"/>
              <a:ea typeface="Montserrat"/>
              <a:cs typeface="Montserrat"/>
              <a:sym typeface="Montserrat"/>
            </a:endParaRPr>
          </a:p>
          <a:p>
            <a:pPr indent="-143551" lvl="0" marL="172800" marR="0" rtl="0" algn="just">
              <a:lnSpc>
                <a:spcPct val="100000"/>
              </a:lnSpc>
              <a:spcBef>
                <a:spcPts val="150"/>
              </a:spcBef>
              <a:spcAft>
                <a:spcPts val="0"/>
              </a:spcAft>
              <a:buClr>
                <a:schemeClr val="dk1"/>
              </a:buClr>
              <a:buSzPts val="900"/>
              <a:buFont typeface="Montserrat"/>
              <a:buChar char="●"/>
            </a:pPr>
            <a:r>
              <a:rPr b="0" i="0" lang="en-GB" sz="900" u="none" cap="none" strike="noStrike">
                <a:solidFill>
                  <a:schemeClr val="dk1"/>
                </a:solidFill>
                <a:latin typeface="Montserrat"/>
                <a:ea typeface="Montserrat"/>
                <a:cs typeface="Montserrat"/>
                <a:sym typeface="Montserrat"/>
              </a:rPr>
              <a:t>Définition d’une roadmap technique et fonctionnelle pour atteindre les cibles fixées </a:t>
            </a:r>
            <a:endParaRPr b="0" i="0" sz="900" u="none" cap="none" strike="noStrike">
              <a:solidFill>
                <a:schemeClr val="dk1"/>
              </a:solidFill>
              <a:latin typeface="Montserrat"/>
              <a:ea typeface="Montserrat"/>
              <a:cs typeface="Montserrat"/>
              <a:sym typeface="Montserrat"/>
            </a:endParaRPr>
          </a:p>
          <a:p>
            <a:pPr indent="-143551" lvl="0" marL="172800" marR="0" rtl="0" algn="just">
              <a:lnSpc>
                <a:spcPct val="100000"/>
              </a:lnSpc>
              <a:spcBef>
                <a:spcPts val="150"/>
              </a:spcBef>
              <a:spcAft>
                <a:spcPts val="0"/>
              </a:spcAft>
              <a:buClr>
                <a:schemeClr val="dk1"/>
              </a:buClr>
              <a:buSzPts val="900"/>
              <a:buFont typeface="Montserrat"/>
              <a:buChar char="●"/>
            </a:pPr>
            <a:r>
              <a:rPr b="0" i="0" lang="en-GB" sz="900" u="none" cap="none" strike="noStrike">
                <a:solidFill>
                  <a:schemeClr val="dk1"/>
                </a:solidFill>
                <a:latin typeface="Montserrat"/>
                <a:ea typeface="Montserrat"/>
                <a:cs typeface="Montserrat"/>
                <a:sym typeface="Montserrat"/>
              </a:rPr>
              <a:t>Mise en évidence par l’analyse d’inducteurs de réduction des frais généraux non exploités</a:t>
            </a:r>
            <a:endParaRPr b="0" i="0" sz="900" u="none" cap="none" strike="noStrike">
              <a:solidFill>
                <a:schemeClr val="dk1"/>
              </a:solidFill>
              <a:latin typeface="Montserrat"/>
              <a:ea typeface="Montserrat"/>
              <a:cs typeface="Montserrat"/>
              <a:sym typeface="Montserrat"/>
            </a:endParaRPr>
          </a:p>
          <a:p>
            <a:pPr indent="-143551" lvl="0" marL="172800" marR="0" rtl="0" algn="just">
              <a:lnSpc>
                <a:spcPct val="100000"/>
              </a:lnSpc>
              <a:spcBef>
                <a:spcPts val="150"/>
              </a:spcBef>
              <a:spcAft>
                <a:spcPts val="150"/>
              </a:spcAft>
              <a:buClr>
                <a:schemeClr val="dk1"/>
              </a:buClr>
              <a:buSzPts val="900"/>
              <a:buFont typeface="Montserrat"/>
              <a:buChar char="●"/>
            </a:pPr>
            <a:r>
              <a:rPr b="0" i="0" lang="en-GB" sz="900" u="none" cap="none" strike="noStrike">
                <a:solidFill>
                  <a:schemeClr val="dk1"/>
                </a:solidFill>
                <a:latin typeface="Montserrat"/>
                <a:ea typeface="Montserrat"/>
                <a:cs typeface="Montserrat"/>
                <a:sym typeface="Montserrat"/>
              </a:rPr>
              <a:t>Acculturation globale des parties prenantes aux contraintes, prérequis et impacts des opportunités IA générative</a:t>
            </a:r>
            <a:endParaRPr b="0" i="0" sz="900" u="none" cap="none" strike="noStrike">
              <a:solidFill>
                <a:schemeClr val="dk1"/>
              </a:solidFill>
              <a:latin typeface="Montserrat"/>
              <a:ea typeface="Montserrat"/>
              <a:cs typeface="Montserrat"/>
              <a:sym typeface="Montserrat"/>
            </a:endParaRPr>
          </a:p>
        </p:txBody>
      </p:sp>
      <p:pic>
        <p:nvPicPr>
          <p:cNvPr id="59" name="Google Shape;59;p13"/>
          <p:cNvPicPr preferRelativeResize="0"/>
          <p:nvPr/>
        </p:nvPicPr>
        <p:blipFill rotWithShape="1">
          <a:blip r:embed="rId4">
            <a:alphaModFix/>
          </a:blip>
          <a:srcRect b="0" l="0" r="0" t="0"/>
          <a:stretch/>
        </p:blipFill>
        <p:spPr>
          <a:xfrm>
            <a:off x="1074153" y="2173415"/>
            <a:ext cx="913145" cy="505400"/>
          </a:xfrm>
          <a:prstGeom prst="rect">
            <a:avLst/>
          </a:prstGeom>
          <a:noFill/>
          <a:ln>
            <a:noFill/>
          </a:ln>
        </p:spPr>
      </p:pic>
      <p:sp>
        <p:nvSpPr>
          <p:cNvPr id="60" name="Google Shape;60;p13"/>
          <p:cNvSpPr txBox="1"/>
          <p:nvPr/>
        </p:nvSpPr>
        <p:spPr>
          <a:xfrm>
            <a:off x="1653953" y="4075650"/>
            <a:ext cx="828300" cy="32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Banque</a:t>
            </a:r>
            <a:endParaRPr b="1" i="0" sz="1100" u="none" cap="none" strike="noStrike">
              <a:solidFill>
                <a:srgbClr val="000000"/>
              </a:solidFill>
              <a:latin typeface="Montserrat"/>
              <a:ea typeface="Montserrat"/>
              <a:cs typeface="Montserrat"/>
              <a:sym typeface="Montserrat"/>
            </a:endParaRPr>
          </a:p>
        </p:txBody>
      </p:sp>
      <p:pic>
        <p:nvPicPr>
          <p:cNvPr id="61" name="Google Shape;61;p13"/>
          <p:cNvPicPr preferRelativeResize="0"/>
          <p:nvPr/>
        </p:nvPicPr>
        <p:blipFill rotWithShape="1">
          <a:blip r:embed="rId5">
            <a:alphaModFix/>
          </a:blip>
          <a:srcRect b="15782" l="0" r="0" t="0"/>
          <a:stretch/>
        </p:blipFill>
        <p:spPr>
          <a:xfrm>
            <a:off x="1325192" y="4075689"/>
            <a:ext cx="383889" cy="323319"/>
          </a:xfrm>
          <a:prstGeom prst="rect">
            <a:avLst/>
          </a:prstGeom>
          <a:noFill/>
          <a:ln>
            <a:noFill/>
          </a:ln>
        </p:spPr>
      </p:pic>
      <p:pic>
        <p:nvPicPr>
          <p:cNvPr id="62" name="Google Shape;62;p13"/>
          <p:cNvPicPr preferRelativeResize="0"/>
          <p:nvPr/>
        </p:nvPicPr>
        <p:blipFill rotWithShape="1">
          <a:blip r:embed="rId6">
            <a:alphaModFix/>
          </a:blip>
          <a:srcRect b="0" l="0" r="0" t="0"/>
          <a:stretch/>
        </p:blipFill>
        <p:spPr>
          <a:xfrm>
            <a:off x="732361" y="4015972"/>
            <a:ext cx="440432" cy="442754"/>
          </a:xfrm>
          <a:prstGeom prst="rect">
            <a:avLst/>
          </a:prstGeom>
          <a:noFill/>
          <a:ln>
            <a:noFill/>
          </a:ln>
        </p:spPr>
      </p:pic>
      <p:grpSp>
        <p:nvGrpSpPr>
          <p:cNvPr id="63" name="Google Shape;63;p13"/>
          <p:cNvGrpSpPr/>
          <p:nvPr/>
        </p:nvGrpSpPr>
        <p:grpSpPr>
          <a:xfrm>
            <a:off x="770461" y="4537214"/>
            <a:ext cx="1595065" cy="363248"/>
            <a:chOff x="733185" y="4537214"/>
            <a:chExt cx="1595065" cy="363248"/>
          </a:xfrm>
        </p:grpSpPr>
        <p:grpSp>
          <p:nvGrpSpPr>
            <p:cNvPr id="64" name="Google Shape;64;p13"/>
            <p:cNvGrpSpPr/>
            <p:nvPr/>
          </p:nvGrpSpPr>
          <p:grpSpPr>
            <a:xfrm>
              <a:off x="733185" y="4537214"/>
              <a:ext cx="386073" cy="363248"/>
              <a:chOff x="311150" y="1147763"/>
              <a:chExt cx="669800" cy="671562"/>
            </a:xfrm>
          </p:grpSpPr>
          <p:sp>
            <p:nvSpPr>
              <p:cNvPr id="65" name="Google Shape;65;p13"/>
              <p:cNvSpPr/>
              <p:nvPr/>
            </p:nvSpPr>
            <p:spPr>
              <a:xfrm>
                <a:off x="311150" y="1350963"/>
                <a:ext cx="324000" cy="468300"/>
              </a:xfrm>
              <a:custGeom>
                <a:rect b="b" l="l" r="r" t="t"/>
                <a:pathLst>
                  <a:path extrusionOk="0" h="120000" w="120000">
                    <a:moveTo>
                      <a:pt x="119999" y="120000"/>
                    </a:moveTo>
                    <a:cubicBezTo>
                      <a:pt x="53684" y="118536"/>
                      <a:pt x="0" y="80487"/>
                      <a:pt x="0" y="33658"/>
                    </a:cubicBezTo>
                    <a:cubicBezTo>
                      <a:pt x="0" y="21951"/>
                      <a:pt x="4210" y="10243"/>
                      <a:pt x="10526" y="0"/>
                    </a:cubicBezTo>
                    <a:cubicBezTo>
                      <a:pt x="35789" y="6585"/>
                      <a:pt x="35789" y="6585"/>
                      <a:pt x="35789" y="6585"/>
                    </a:cubicBezTo>
                    <a:cubicBezTo>
                      <a:pt x="30526" y="14634"/>
                      <a:pt x="27368" y="24146"/>
                      <a:pt x="27368" y="33658"/>
                    </a:cubicBezTo>
                    <a:cubicBezTo>
                      <a:pt x="27368" y="70243"/>
                      <a:pt x="68421" y="99512"/>
                      <a:pt x="119999" y="100975"/>
                    </a:cubicBezTo>
                    <a:lnTo>
                      <a:pt x="119999" y="12000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sp>
            <p:nvSpPr>
              <p:cNvPr id="66" name="Google Shape;66;p13"/>
              <p:cNvSpPr/>
              <p:nvPr/>
            </p:nvSpPr>
            <p:spPr>
              <a:xfrm>
                <a:off x="641350" y="1147763"/>
                <a:ext cx="339600" cy="436500"/>
              </a:xfrm>
              <a:custGeom>
                <a:rect b="b" l="l" r="r" t="t"/>
                <a:pathLst>
                  <a:path extrusionOk="0" h="120000" w="120000">
                    <a:moveTo>
                      <a:pt x="1008" y="0"/>
                    </a:moveTo>
                    <a:cubicBezTo>
                      <a:pt x="66554" y="0"/>
                      <a:pt x="120000" y="41568"/>
                      <a:pt x="120000" y="91764"/>
                    </a:cubicBezTo>
                    <a:cubicBezTo>
                      <a:pt x="120000" y="101960"/>
                      <a:pt x="117983" y="111372"/>
                      <a:pt x="113949" y="120000"/>
                    </a:cubicBezTo>
                    <a:cubicBezTo>
                      <a:pt x="113949" y="120000"/>
                      <a:pt x="113949" y="120000"/>
                      <a:pt x="113949" y="120000"/>
                    </a:cubicBezTo>
                    <a:cubicBezTo>
                      <a:pt x="89747" y="112941"/>
                      <a:pt x="89747" y="112941"/>
                      <a:pt x="89747" y="112941"/>
                    </a:cubicBezTo>
                    <a:cubicBezTo>
                      <a:pt x="89747" y="112941"/>
                      <a:pt x="89747" y="112941"/>
                      <a:pt x="89747" y="112941"/>
                    </a:cubicBezTo>
                    <a:cubicBezTo>
                      <a:pt x="91764" y="106666"/>
                      <a:pt x="93781" y="99607"/>
                      <a:pt x="93781" y="91764"/>
                    </a:cubicBezTo>
                    <a:cubicBezTo>
                      <a:pt x="93781" y="52549"/>
                      <a:pt x="52436" y="20392"/>
                      <a:pt x="1008" y="20392"/>
                    </a:cubicBezTo>
                    <a:cubicBezTo>
                      <a:pt x="1008" y="20392"/>
                      <a:pt x="1008" y="20392"/>
                      <a:pt x="0" y="20392"/>
                    </a:cubicBezTo>
                    <a:cubicBezTo>
                      <a:pt x="0" y="20392"/>
                      <a:pt x="0" y="20392"/>
                      <a:pt x="0" y="20392"/>
                    </a:cubicBezTo>
                    <a:cubicBezTo>
                      <a:pt x="1008" y="0"/>
                      <a:pt x="1008" y="0"/>
                      <a:pt x="1008" y="0"/>
                    </a:cubicBezTo>
                    <a:cubicBezTo>
                      <a:pt x="1008" y="0"/>
                      <a:pt x="1008" y="0"/>
                      <a:pt x="1008" y="0"/>
                    </a:cubicBezTo>
                    <a:cubicBezTo>
                      <a:pt x="1008" y="0"/>
                      <a:pt x="1008" y="0"/>
                      <a:pt x="1008" y="0"/>
                    </a:cubicBez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sp>
            <p:nvSpPr>
              <p:cNvPr id="67" name="Google Shape;67;p13"/>
              <p:cNvSpPr/>
              <p:nvPr/>
            </p:nvSpPr>
            <p:spPr>
              <a:xfrm>
                <a:off x="601663" y="1439863"/>
                <a:ext cx="85800" cy="87300"/>
              </a:xfrm>
              <a:prstGeom prst="ellipse">
                <a:avLst/>
              </a:pr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sp>
            <p:nvSpPr>
              <p:cNvPr id="68" name="Google Shape;68;p13"/>
              <p:cNvSpPr/>
              <p:nvPr/>
            </p:nvSpPr>
            <p:spPr>
              <a:xfrm>
                <a:off x="635000" y="1558925"/>
                <a:ext cx="328500" cy="260400"/>
              </a:xfrm>
              <a:custGeom>
                <a:rect b="b" l="l" r="r" t="t"/>
                <a:pathLst>
                  <a:path extrusionOk="0" h="120000" w="120000">
                    <a:moveTo>
                      <a:pt x="120000" y="11868"/>
                    </a:moveTo>
                    <a:cubicBezTo>
                      <a:pt x="104347" y="75164"/>
                      <a:pt x="58434" y="120000"/>
                      <a:pt x="3130" y="120000"/>
                    </a:cubicBezTo>
                    <a:cubicBezTo>
                      <a:pt x="2086" y="120000"/>
                      <a:pt x="1043" y="120000"/>
                      <a:pt x="0" y="120000"/>
                    </a:cubicBezTo>
                    <a:cubicBezTo>
                      <a:pt x="0" y="120000"/>
                      <a:pt x="0" y="120000"/>
                      <a:pt x="0" y="120000"/>
                    </a:cubicBezTo>
                    <a:cubicBezTo>
                      <a:pt x="0" y="85714"/>
                      <a:pt x="0" y="85714"/>
                      <a:pt x="0" y="85714"/>
                    </a:cubicBezTo>
                    <a:cubicBezTo>
                      <a:pt x="0" y="85714"/>
                      <a:pt x="0" y="85714"/>
                      <a:pt x="0" y="85714"/>
                    </a:cubicBezTo>
                    <a:cubicBezTo>
                      <a:pt x="1043" y="85714"/>
                      <a:pt x="2086" y="85714"/>
                      <a:pt x="3130" y="85714"/>
                    </a:cubicBezTo>
                    <a:cubicBezTo>
                      <a:pt x="46956" y="85714"/>
                      <a:pt x="82434" y="50109"/>
                      <a:pt x="94956" y="0"/>
                    </a:cubicBezTo>
                    <a:lnTo>
                      <a:pt x="120000" y="11868"/>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sp>
            <p:nvSpPr>
              <p:cNvPr id="69" name="Google Shape;69;p13"/>
              <p:cNvSpPr/>
              <p:nvPr/>
            </p:nvSpPr>
            <p:spPr>
              <a:xfrm>
                <a:off x="339725" y="1147763"/>
                <a:ext cx="304800" cy="228600"/>
              </a:xfrm>
              <a:custGeom>
                <a:rect b="b" l="l" r="r" t="t"/>
                <a:pathLst>
                  <a:path extrusionOk="0" h="120000" w="120000">
                    <a:moveTo>
                      <a:pt x="118878" y="39000"/>
                    </a:moveTo>
                    <a:cubicBezTo>
                      <a:pt x="78504" y="39000"/>
                      <a:pt x="42616" y="72000"/>
                      <a:pt x="26915" y="120000"/>
                    </a:cubicBezTo>
                    <a:cubicBezTo>
                      <a:pt x="26915" y="120000"/>
                      <a:pt x="26915" y="120000"/>
                      <a:pt x="26915" y="120000"/>
                    </a:cubicBezTo>
                    <a:cubicBezTo>
                      <a:pt x="0" y="106500"/>
                      <a:pt x="0" y="106500"/>
                      <a:pt x="0" y="106500"/>
                    </a:cubicBezTo>
                    <a:cubicBezTo>
                      <a:pt x="0" y="106500"/>
                      <a:pt x="0" y="106500"/>
                      <a:pt x="0" y="106500"/>
                    </a:cubicBezTo>
                    <a:cubicBezTo>
                      <a:pt x="20186" y="43500"/>
                      <a:pt x="66168" y="1500"/>
                      <a:pt x="120000" y="0"/>
                    </a:cubicBezTo>
                    <a:lnTo>
                      <a:pt x="118878" y="3900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sp>
            <p:nvSpPr>
              <p:cNvPr id="70" name="Google Shape;70;p13"/>
              <p:cNvSpPr/>
              <p:nvPr/>
            </p:nvSpPr>
            <p:spPr>
              <a:xfrm>
                <a:off x="647700" y="1241425"/>
                <a:ext cx="58800" cy="206400"/>
              </a:xfrm>
              <a:custGeom>
                <a:rect b="b" l="l" r="r" t="t"/>
                <a:pathLst>
                  <a:path extrusionOk="0" h="120000" w="120000">
                    <a:moveTo>
                      <a:pt x="120000" y="0"/>
                    </a:moveTo>
                    <a:cubicBezTo>
                      <a:pt x="120000" y="40000"/>
                      <a:pt x="120000" y="40000"/>
                      <a:pt x="120000" y="40000"/>
                    </a:cubicBezTo>
                    <a:cubicBezTo>
                      <a:pt x="114285" y="80000"/>
                      <a:pt x="114285" y="80000"/>
                      <a:pt x="114285" y="80000"/>
                    </a:cubicBezTo>
                    <a:cubicBezTo>
                      <a:pt x="57142" y="115000"/>
                      <a:pt x="57142" y="115000"/>
                      <a:pt x="57142" y="115000"/>
                    </a:cubicBezTo>
                    <a:cubicBezTo>
                      <a:pt x="45714" y="120000"/>
                      <a:pt x="45714" y="120000"/>
                      <a:pt x="45714" y="120000"/>
                    </a:cubicBezTo>
                    <a:cubicBezTo>
                      <a:pt x="34285" y="118333"/>
                      <a:pt x="17142" y="116666"/>
                      <a:pt x="0" y="115000"/>
                    </a:cubicBezTo>
                    <a:cubicBezTo>
                      <a:pt x="0" y="111666"/>
                      <a:pt x="0" y="111666"/>
                      <a:pt x="0" y="111666"/>
                    </a:cubicBezTo>
                    <a:cubicBezTo>
                      <a:pt x="5714" y="71666"/>
                      <a:pt x="5714" y="71666"/>
                      <a:pt x="5714" y="71666"/>
                    </a:cubicBezTo>
                    <a:cubicBezTo>
                      <a:pt x="62857" y="35000"/>
                      <a:pt x="62857" y="35000"/>
                      <a:pt x="62857" y="35000"/>
                    </a:cubicBezTo>
                    <a:lnTo>
                      <a:pt x="120000"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sp>
            <p:nvSpPr>
              <p:cNvPr id="71" name="Google Shape;71;p13"/>
              <p:cNvSpPr/>
              <p:nvPr/>
            </p:nvSpPr>
            <p:spPr>
              <a:xfrm>
                <a:off x="450850" y="1516063"/>
                <a:ext cx="176100" cy="126900"/>
              </a:xfrm>
              <a:custGeom>
                <a:rect b="b" l="l" r="r" t="t"/>
                <a:pathLst>
                  <a:path extrusionOk="0" h="120000" w="120000">
                    <a:moveTo>
                      <a:pt x="0" y="120000"/>
                    </a:moveTo>
                    <a:cubicBezTo>
                      <a:pt x="29032" y="76363"/>
                      <a:pt x="29032" y="76363"/>
                      <a:pt x="29032" y="76363"/>
                    </a:cubicBezTo>
                    <a:cubicBezTo>
                      <a:pt x="56129" y="35454"/>
                      <a:pt x="56129" y="35454"/>
                      <a:pt x="56129" y="35454"/>
                    </a:cubicBezTo>
                    <a:cubicBezTo>
                      <a:pt x="94838" y="10909"/>
                      <a:pt x="94838" y="10909"/>
                      <a:pt x="94838" y="10909"/>
                    </a:cubicBezTo>
                    <a:cubicBezTo>
                      <a:pt x="112258" y="0"/>
                      <a:pt x="112258" y="0"/>
                      <a:pt x="112258" y="0"/>
                    </a:cubicBezTo>
                    <a:cubicBezTo>
                      <a:pt x="114193" y="2727"/>
                      <a:pt x="118064" y="2727"/>
                      <a:pt x="120000" y="5454"/>
                    </a:cubicBezTo>
                    <a:cubicBezTo>
                      <a:pt x="104516" y="30000"/>
                      <a:pt x="104516" y="30000"/>
                      <a:pt x="104516" y="30000"/>
                    </a:cubicBezTo>
                    <a:cubicBezTo>
                      <a:pt x="77419" y="73636"/>
                      <a:pt x="77419" y="73636"/>
                      <a:pt x="77419" y="73636"/>
                    </a:cubicBezTo>
                    <a:cubicBezTo>
                      <a:pt x="38709" y="95454"/>
                      <a:pt x="38709" y="95454"/>
                      <a:pt x="38709" y="95454"/>
                    </a:cubicBezTo>
                    <a:lnTo>
                      <a:pt x="0" y="12000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grpSp>
        <p:sp>
          <p:nvSpPr>
            <p:cNvPr id="72" name="Google Shape;72;p13"/>
            <p:cNvSpPr txBox="1"/>
            <p:nvPr/>
          </p:nvSpPr>
          <p:spPr>
            <a:xfrm>
              <a:off x="1119250" y="4561750"/>
              <a:ext cx="12090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Montserrat"/>
                  <a:ea typeface="Montserrat"/>
                  <a:cs typeface="Montserrat"/>
                  <a:sym typeface="Montserrat"/>
                </a:rPr>
                <a:t>2023 / 2024</a:t>
              </a:r>
              <a:endParaRPr b="0" i="0" sz="1000" u="none" cap="none" strike="noStrike">
                <a:solidFill>
                  <a:srgbClr val="000000"/>
                </a:solidFill>
                <a:latin typeface="Montserrat"/>
                <a:ea typeface="Montserrat"/>
                <a:cs typeface="Montserrat"/>
                <a:sym typeface="Montserrat"/>
              </a:endParaRPr>
            </a:p>
          </p:txBody>
        </p:sp>
      </p:grpSp>
      <p:pic>
        <p:nvPicPr>
          <p:cNvPr id="73" name="Google Shape;73;p13"/>
          <p:cNvPicPr preferRelativeResize="0"/>
          <p:nvPr/>
        </p:nvPicPr>
        <p:blipFill rotWithShape="1">
          <a:blip r:embed="rId7">
            <a:alphaModFix/>
          </a:blip>
          <a:srcRect b="0" l="0" r="0" t="0"/>
          <a:stretch/>
        </p:blipFill>
        <p:spPr>
          <a:xfrm>
            <a:off x="105996" y="4776975"/>
            <a:ext cx="229582" cy="229800"/>
          </a:xfrm>
          <a:prstGeom prst="rect">
            <a:avLst/>
          </a:prstGeom>
          <a:noFill/>
          <a:ln>
            <a:noFill/>
          </a:ln>
        </p:spPr>
      </p:pic>
      <p:sp>
        <p:nvSpPr>
          <p:cNvPr id="74" name="Google Shape;74;p13"/>
          <p:cNvSpPr txBox="1"/>
          <p:nvPr/>
        </p:nvSpPr>
        <p:spPr>
          <a:xfrm>
            <a:off x="8394208" y="4617617"/>
            <a:ext cx="5487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GB" sz="1000">
                <a:solidFill>
                  <a:srgbClr val="595959"/>
                </a:solidFill>
                <a:latin typeface="Montserrat"/>
                <a:ea typeface="Montserrat"/>
                <a:cs typeface="Montserrat"/>
                <a:sym typeface="Montserrat"/>
              </a:rPr>
              <a:t>‹#›</a:t>
            </a:fld>
            <a:endParaRPr b="1" sz="1000">
              <a:solidFill>
                <a:srgbClr val="595959"/>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4"/>
          <p:cNvSpPr txBox="1"/>
          <p:nvPr>
            <p:ph idx="4294967295" type="subTitle"/>
          </p:nvPr>
        </p:nvSpPr>
        <p:spPr>
          <a:xfrm>
            <a:off x="284138" y="2720251"/>
            <a:ext cx="2466000" cy="10434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lang="en-GB" sz="1200">
                <a:solidFill>
                  <a:schemeClr val="dk1"/>
                </a:solidFill>
                <a:latin typeface="Montserrat"/>
                <a:ea typeface="Montserrat"/>
                <a:cs typeface="Montserrat"/>
                <a:sym typeface="Montserrat"/>
              </a:rPr>
              <a:t>MEWA Stratégie IA /</a:t>
            </a:r>
            <a:endParaRPr sz="1200">
              <a:solidFill>
                <a:schemeClr val="dk1"/>
              </a:solidFill>
              <a:latin typeface="Montserrat"/>
              <a:ea typeface="Montserrat"/>
              <a:cs typeface="Montserrat"/>
              <a:sym typeface="Montserrat"/>
            </a:endParaRPr>
          </a:p>
          <a:p>
            <a:pPr indent="0" lvl="0" marL="0" marR="0" rtl="0" algn="ctr">
              <a:lnSpc>
                <a:spcPct val="115000"/>
              </a:lnSpc>
              <a:spcBef>
                <a:spcPts val="0"/>
              </a:spcBef>
              <a:spcAft>
                <a:spcPts val="0"/>
              </a:spcAft>
              <a:buClr>
                <a:srgbClr val="000000"/>
              </a:buClr>
              <a:buSzPts val="1200"/>
              <a:buFont typeface="Arial"/>
              <a:buNone/>
            </a:pPr>
            <a:r>
              <a:rPr lang="en-GB" sz="1200">
                <a:solidFill>
                  <a:schemeClr val="dk1"/>
                </a:solidFill>
                <a:latin typeface="Montserrat"/>
                <a:ea typeface="Montserrat"/>
                <a:cs typeface="Montserrat"/>
                <a:sym typeface="Montserrat"/>
              </a:rPr>
              <a:t>modèle opérationnel /</a:t>
            </a:r>
            <a:endParaRPr sz="1200">
              <a:solidFill>
                <a:schemeClr val="dk1"/>
              </a:solidFill>
              <a:latin typeface="Montserrat"/>
              <a:ea typeface="Montserrat"/>
              <a:cs typeface="Montserrat"/>
              <a:sym typeface="Montserrat"/>
            </a:endParaRPr>
          </a:p>
          <a:p>
            <a:pPr indent="0" lvl="0" marL="0" marR="0" rtl="0" algn="ctr">
              <a:lnSpc>
                <a:spcPct val="115000"/>
              </a:lnSpc>
              <a:spcBef>
                <a:spcPts val="0"/>
              </a:spcBef>
              <a:spcAft>
                <a:spcPts val="0"/>
              </a:spcAft>
              <a:buClr>
                <a:srgbClr val="000000"/>
              </a:buClr>
              <a:buSzPts val="1200"/>
              <a:buFont typeface="Arial"/>
              <a:buNone/>
            </a:pPr>
            <a:r>
              <a:rPr lang="en-GB" sz="1200">
                <a:solidFill>
                  <a:schemeClr val="dk1"/>
                </a:solidFill>
                <a:latin typeface="Montserrat"/>
                <a:ea typeface="Montserrat"/>
                <a:cs typeface="Montserrat"/>
                <a:sym typeface="Montserrat"/>
              </a:rPr>
              <a:t>modèle de gouvernance IA </a:t>
            </a:r>
            <a:endParaRPr sz="1200">
              <a:solidFill>
                <a:schemeClr val="dk1"/>
              </a:solidFill>
              <a:latin typeface="Montserrat"/>
              <a:ea typeface="Montserrat"/>
              <a:cs typeface="Montserrat"/>
              <a:sym typeface="Montserrat"/>
            </a:endParaRPr>
          </a:p>
        </p:txBody>
      </p:sp>
      <p:sp>
        <p:nvSpPr>
          <p:cNvPr id="80" name="Google Shape;80;p14"/>
          <p:cNvSpPr txBox="1"/>
          <p:nvPr>
            <p:ph idx="4294967295" type="body"/>
          </p:nvPr>
        </p:nvSpPr>
        <p:spPr>
          <a:xfrm>
            <a:off x="3458175" y="2087217"/>
            <a:ext cx="5464200" cy="104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EB475E"/>
                </a:solidFill>
                <a:latin typeface="Montserrat"/>
                <a:ea typeface="Montserrat"/>
                <a:cs typeface="Montserrat"/>
                <a:sym typeface="Montserrat"/>
              </a:rPr>
              <a:t>Réalisations </a:t>
            </a:r>
            <a:endParaRPr b="0" i="0" sz="1000" u="none" cap="none" strike="noStrike">
              <a:solidFill>
                <a:srgbClr val="EB475E"/>
              </a:solidFill>
              <a:latin typeface="Montserrat"/>
              <a:ea typeface="Montserrat"/>
              <a:cs typeface="Montserrat"/>
              <a:sym typeface="Montserrat"/>
            </a:endParaRPr>
          </a:p>
          <a:p>
            <a:pPr indent="-292100" lvl="0" marL="457200" marR="0" rtl="0" algn="just">
              <a:lnSpc>
                <a:spcPct val="105000"/>
              </a:lnSpc>
              <a:spcBef>
                <a:spcPts val="0"/>
              </a:spcBef>
              <a:spcAft>
                <a:spcPts val="0"/>
              </a:spcAft>
              <a:buClr>
                <a:schemeClr val="dk1"/>
              </a:buClr>
              <a:buSzPts val="1000"/>
              <a:buFont typeface="Montserrat"/>
              <a:buChar char="●"/>
            </a:pPr>
            <a:r>
              <a:rPr lang="en-GB" sz="1000">
                <a:solidFill>
                  <a:schemeClr val="dk1"/>
                </a:solidFill>
                <a:latin typeface="Montserrat Light"/>
                <a:ea typeface="Montserrat Light"/>
                <a:cs typeface="Montserrat Light"/>
                <a:sym typeface="Montserrat Light"/>
              </a:rPr>
              <a:t>Collecte des use cases et unification du catalogue des use cases</a:t>
            </a:r>
            <a:endParaRPr sz="1000">
              <a:solidFill>
                <a:schemeClr val="dk1"/>
              </a:solidFill>
              <a:latin typeface="Montserrat Light"/>
              <a:ea typeface="Montserrat Light"/>
              <a:cs typeface="Montserrat Light"/>
              <a:sym typeface="Montserrat Light"/>
            </a:endParaRPr>
          </a:p>
          <a:p>
            <a:pPr indent="-292100" lvl="0" marL="457200" marR="0" rtl="0" algn="just">
              <a:lnSpc>
                <a:spcPct val="105000"/>
              </a:lnSpc>
              <a:spcBef>
                <a:spcPts val="0"/>
              </a:spcBef>
              <a:spcAft>
                <a:spcPts val="0"/>
              </a:spcAft>
              <a:buClr>
                <a:schemeClr val="dk1"/>
              </a:buClr>
              <a:buSzPts val="1000"/>
              <a:buFont typeface="Montserrat"/>
              <a:buChar char="●"/>
            </a:pPr>
            <a:r>
              <a:rPr lang="en-GB" sz="1000">
                <a:solidFill>
                  <a:schemeClr val="dk1"/>
                </a:solidFill>
                <a:latin typeface="Montserrat Light"/>
                <a:ea typeface="Montserrat Light"/>
                <a:cs typeface="Montserrat Light"/>
                <a:sym typeface="Montserrat Light"/>
              </a:rPr>
              <a:t>Alignement de la stratégie IA avec les stratégies du ministère (Business et IT)</a:t>
            </a:r>
            <a:endParaRPr sz="1000">
              <a:solidFill>
                <a:schemeClr val="dk1"/>
              </a:solidFill>
              <a:latin typeface="Montserrat Light"/>
              <a:ea typeface="Montserrat Light"/>
              <a:cs typeface="Montserrat Light"/>
              <a:sym typeface="Montserrat Light"/>
            </a:endParaRPr>
          </a:p>
          <a:p>
            <a:pPr indent="-292100" lvl="0" marL="457200" marR="0" rtl="0" algn="just">
              <a:lnSpc>
                <a:spcPct val="105000"/>
              </a:lnSpc>
              <a:spcBef>
                <a:spcPts val="0"/>
              </a:spcBef>
              <a:spcAft>
                <a:spcPts val="0"/>
              </a:spcAft>
              <a:buClr>
                <a:schemeClr val="dk1"/>
              </a:buClr>
              <a:buSzPts val="1000"/>
              <a:buFont typeface="Montserrat"/>
              <a:buChar char="●"/>
            </a:pPr>
            <a:r>
              <a:rPr lang="en-GB" sz="1000">
                <a:solidFill>
                  <a:schemeClr val="dk1"/>
                </a:solidFill>
                <a:latin typeface="Montserrat Light"/>
                <a:ea typeface="Montserrat Light"/>
                <a:cs typeface="Montserrat Light"/>
                <a:sym typeface="Montserrat Light"/>
              </a:rPr>
              <a:t>Étude de l'existant et élaboration des objectifs de la stratégie IA</a:t>
            </a:r>
            <a:endParaRPr sz="1000">
              <a:solidFill>
                <a:schemeClr val="dk1"/>
              </a:solidFill>
              <a:latin typeface="Montserrat Light"/>
              <a:ea typeface="Montserrat Light"/>
              <a:cs typeface="Montserrat Light"/>
              <a:sym typeface="Montserrat Light"/>
            </a:endParaRPr>
          </a:p>
          <a:p>
            <a:pPr indent="-292100" lvl="0" marL="457200" marR="0" rtl="0" algn="just">
              <a:lnSpc>
                <a:spcPct val="105000"/>
              </a:lnSpc>
              <a:spcBef>
                <a:spcPts val="0"/>
              </a:spcBef>
              <a:spcAft>
                <a:spcPts val="0"/>
              </a:spcAft>
              <a:buClr>
                <a:schemeClr val="dk1"/>
              </a:buClr>
              <a:buSzPts val="1000"/>
              <a:buFont typeface="Montserrat"/>
              <a:buChar char="●"/>
            </a:pPr>
            <a:r>
              <a:rPr lang="en-GB" sz="1000">
                <a:solidFill>
                  <a:schemeClr val="dk1"/>
                </a:solidFill>
                <a:latin typeface="Montserrat Light"/>
                <a:ea typeface="Montserrat Light"/>
                <a:cs typeface="Montserrat Light"/>
                <a:sym typeface="Montserrat Light"/>
              </a:rPr>
              <a:t>Définition des initiatives et alignement avec les objectifs de la stratégie</a:t>
            </a:r>
            <a:endParaRPr sz="1000">
              <a:solidFill>
                <a:schemeClr val="dk1"/>
              </a:solidFill>
              <a:latin typeface="Montserrat Light"/>
              <a:ea typeface="Montserrat Light"/>
              <a:cs typeface="Montserrat Light"/>
              <a:sym typeface="Montserrat Light"/>
            </a:endParaRPr>
          </a:p>
          <a:p>
            <a:pPr indent="-292100" lvl="0" marL="457200" marR="0" rtl="0" algn="just">
              <a:lnSpc>
                <a:spcPct val="105000"/>
              </a:lnSpc>
              <a:spcBef>
                <a:spcPts val="0"/>
              </a:spcBef>
              <a:spcAft>
                <a:spcPts val="0"/>
              </a:spcAft>
              <a:buClr>
                <a:schemeClr val="dk1"/>
              </a:buClr>
              <a:buSzPts val="1000"/>
              <a:buFont typeface="Montserrat"/>
              <a:buChar char="●"/>
            </a:pPr>
            <a:r>
              <a:rPr lang="en-GB" sz="1000">
                <a:solidFill>
                  <a:schemeClr val="dk1"/>
                </a:solidFill>
                <a:latin typeface="Montserrat Light"/>
                <a:ea typeface="Montserrat Light"/>
                <a:cs typeface="Montserrat Light"/>
                <a:sym typeface="Montserrat Light"/>
              </a:rPr>
              <a:t>Élaboration du modèle opérationnel du centre d'excellence IA du MEWA</a:t>
            </a:r>
            <a:endParaRPr sz="1000">
              <a:solidFill>
                <a:schemeClr val="dk1"/>
              </a:solidFill>
              <a:latin typeface="Montserrat Light"/>
              <a:ea typeface="Montserrat Light"/>
              <a:cs typeface="Montserrat Light"/>
              <a:sym typeface="Montserrat Light"/>
            </a:endParaRPr>
          </a:p>
          <a:p>
            <a:pPr indent="-292100" lvl="0" marL="457200" marR="0" rtl="0" algn="just">
              <a:lnSpc>
                <a:spcPct val="105000"/>
              </a:lnSpc>
              <a:spcBef>
                <a:spcPts val="0"/>
              </a:spcBef>
              <a:spcAft>
                <a:spcPts val="0"/>
              </a:spcAft>
              <a:buClr>
                <a:schemeClr val="dk1"/>
              </a:buClr>
              <a:buSzPts val="1000"/>
              <a:buFont typeface="Montserrat"/>
              <a:buChar char="●"/>
            </a:pPr>
            <a:r>
              <a:rPr lang="en-GB" sz="1000">
                <a:solidFill>
                  <a:schemeClr val="dk1"/>
                </a:solidFill>
                <a:latin typeface="Montserrat Light"/>
                <a:ea typeface="Montserrat Light"/>
                <a:cs typeface="Montserrat Light"/>
                <a:sym typeface="Montserrat Light"/>
              </a:rPr>
              <a:t>Élaboration de feuilles de route basées sur les initiatives, avec définition des KPI stratégiques et opérationnels</a:t>
            </a:r>
            <a:endParaRPr sz="1000">
              <a:solidFill>
                <a:schemeClr val="dk1"/>
              </a:solidFill>
              <a:latin typeface="Montserrat Light"/>
              <a:ea typeface="Montserrat Light"/>
              <a:cs typeface="Montserrat Light"/>
              <a:sym typeface="Montserrat Light"/>
            </a:endParaRPr>
          </a:p>
          <a:p>
            <a:pPr indent="-292100" lvl="0" marL="457200" marR="0" rtl="0" algn="just">
              <a:lnSpc>
                <a:spcPct val="105000"/>
              </a:lnSpc>
              <a:spcBef>
                <a:spcPts val="0"/>
              </a:spcBef>
              <a:spcAft>
                <a:spcPts val="0"/>
              </a:spcAft>
              <a:buClr>
                <a:schemeClr val="dk1"/>
              </a:buClr>
              <a:buSzPts val="1000"/>
              <a:buFont typeface="Montserrat"/>
              <a:buChar char="●"/>
            </a:pPr>
            <a:r>
              <a:rPr lang="en-GB" sz="1000">
                <a:solidFill>
                  <a:schemeClr val="dk1"/>
                </a:solidFill>
                <a:latin typeface="Montserrat Light"/>
                <a:ea typeface="Montserrat Light"/>
                <a:cs typeface="Montserrat Light"/>
                <a:sym typeface="Montserrat Light"/>
              </a:rPr>
              <a:t>Élaboration du modèle de gouvernance IA, encadrant le cycle de vie des applications IA et des parties prenantes </a:t>
            </a:r>
            <a:endParaRPr sz="1000">
              <a:solidFill>
                <a:schemeClr val="dk1"/>
              </a:solidFill>
              <a:latin typeface="Montserrat"/>
              <a:ea typeface="Montserrat"/>
              <a:cs typeface="Montserrat"/>
              <a:sym typeface="Montserrat"/>
            </a:endParaRPr>
          </a:p>
          <a:p>
            <a:pPr indent="0" lvl="0" marL="0" marR="0" rtl="0" algn="l">
              <a:lnSpc>
                <a:spcPct val="105000"/>
              </a:lnSpc>
              <a:spcBef>
                <a:spcPts val="0"/>
              </a:spcBef>
              <a:spcAft>
                <a:spcPts val="0"/>
              </a:spcAft>
              <a:buClr>
                <a:srgbClr val="000000"/>
              </a:buClr>
              <a:buSzPts val="900"/>
              <a:buFont typeface="Arial"/>
              <a:buNone/>
            </a:pPr>
            <a:r>
              <a:t/>
            </a:r>
            <a:endParaRPr b="0" i="0" sz="1000" u="none" cap="none" strike="noStrike">
              <a:solidFill>
                <a:schemeClr val="dk1"/>
              </a:solidFill>
              <a:latin typeface="Montserrat"/>
              <a:ea typeface="Montserrat"/>
              <a:cs typeface="Montserrat"/>
              <a:sym typeface="Montserrat"/>
            </a:endParaRPr>
          </a:p>
        </p:txBody>
      </p:sp>
      <p:sp>
        <p:nvSpPr>
          <p:cNvPr id="81" name="Google Shape;81;p14"/>
          <p:cNvSpPr txBox="1"/>
          <p:nvPr>
            <p:ph idx="4294967295" type="body"/>
          </p:nvPr>
        </p:nvSpPr>
        <p:spPr>
          <a:xfrm>
            <a:off x="3397425" y="565684"/>
            <a:ext cx="5585700" cy="792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F8475E"/>
                </a:solidFill>
                <a:latin typeface="Montserrat"/>
                <a:ea typeface="Montserrat"/>
                <a:cs typeface="Montserrat"/>
                <a:sym typeface="Montserrat"/>
              </a:rPr>
              <a:t>Challenges </a:t>
            </a:r>
            <a:endParaRPr b="0" i="0" sz="900" u="none" cap="none" strike="noStrike">
              <a:solidFill>
                <a:srgbClr val="F8475E"/>
              </a:solidFill>
              <a:latin typeface="Montserrat"/>
              <a:ea typeface="Montserrat"/>
              <a:cs typeface="Montserrat"/>
              <a:sym typeface="Montserrat"/>
            </a:endParaRPr>
          </a:p>
          <a:p>
            <a:pPr indent="-292100" lvl="0" marL="457200" rtl="0" algn="just">
              <a:lnSpc>
                <a:spcPct val="105000"/>
              </a:lnSpc>
              <a:spcBef>
                <a:spcPts val="0"/>
              </a:spcBef>
              <a:spcAft>
                <a:spcPts val="0"/>
              </a:spcAft>
              <a:buClr>
                <a:schemeClr val="dk1"/>
              </a:buClr>
              <a:buSzPts val="1000"/>
              <a:buFont typeface="Montserrat"/>
              <a:buChar char="●"/>
            </a:pPr>
            <a:r>
              <a:rPr lang="en-GB" sz="1000">
                <a:solidFill>
                  <a:schemeClr val="dk1"/>
                </a:solidFill>
                <a:latin typeface="Montserrat Light"/>
                <a:ea typeface="Montserrat Light"/>
                <a:cs typeface="Montserrat Light"/>
                <a:sym typeface="Montserrat Light"/>
              </a:rPr>
              <a:t>Manque d'alignement entre la stratégie IA et la stratégie Business</a:t>
            </a:r>
            <a:endParaRPr sz="1000">
              <a:solidFill>
                <a:schemeClr val="dk1"/>
              </a:solidFill>
              <a:latin typeface="Montserrat Light"/>
              <a:ea typeface="Montserrat Light"/>
              <a:cs typeface="Montserrat Light"/>
              <a:sym typeface="Montserrat Light"/>
            </a:endParaRPr>
          </a:p>
          <a:p>
            <a:pPr indent="-292100" lvl="0" marL="457200" rtl="0" algn="just">
              <a:lnSpc>
                <a:spcPct val="105000"/>
              </a:lnSpc>
              <a:spcBef>
                <a:spcPts val="1200"/>
              </a:spcBef>
              <a:spcAft>
                <a:spcPts val="1200"/>
              </a:spcAft>
              <a:buClr>
                <a:schemeClr val="dk1"/>
              </a:buClr>
              <a:buSzPts val="1000"/>
              <a:buFont typeface="Montserrat"/>
              <a:buChar char="●"/>
            </a:pPr>
            <a:r>
              <a:rPr lang="en-GB" sz="1000">
                <a:solidFill>
                  <a:schemeClr val="dk1"/>
                </a:solidFill>
                <a:latin typeface="Montserrat Light"/>
                <a:ea typeface="Montserrat Light"/>
                <a:cs typeface="Montserrat Light"/>
                <a:sym typeface="Montserrat Light"/>
              </a:rPr>
              <a:t>Plusieurs use cases définis par différentes entités du ministère, sans priorisation ni orientation stratégique </a:t>
            </a:r>
            <a:endParaRPr sz="1000">
              <a:solidFill>
                <a:schemeClr val="dk1"/>
              </a:solidFill>
              <a:latin typeface="Montserrat"/>
              <a:ea typeface="Montserrat"/>
              <a:cs typeface="Montserrat"/>
              <a:sym typeface="Montserrat"/>
            </a:endParaRPr>
          </a:p>
        </p:txBody>
      </p:sp>
      <p:sp>
        <p:nvSpPr>
          <p:cNvPr id="82" name="Google Shape;82;p14"/>
          <p:cNvSpPr txBox="1"/>
          <p:nvPr>
            <p:ph idx="4294967295" type="body"/>
          </p:nvPr>
        </p:nvSpPr>
        <p:spPr>
          <a:xfrm>
            <a:off x="3490475" y="3544719"/>
            <a:ext cx="5464200" cy="962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EB475E"/>
                </a:solidFill>
                <a:latin typeface="Montserrat"/>
                <a:ea typeface="Montserrat"/>
                <a:cs typeface="Montserrat"/>
                <a:sym typeface="Montserrat"/>
              </a:rPr>
              <a:t>Bénéfices</a:t>
            </a:r>
            <a:endParaRPr b="0" i="0" sz="900" u="none" cap="none" strike="noStrike">
              <a:solidFill>
                <a:srgbClr val="EB475E"/>
              </a:solidFill>
              <a:latin typeface="Montserrat"/>
              <a:ea typeface="Montserrat"/>
              <a:cs typeface="Montserrat"/>
              <a:sym typeface="Montserrat"/>
            </a:endParaRPr>
          </a:p>
          <a:p>
            <a:pPr indent="-292100" lvl="0" marL="457200" marR="0" rtl="0" algn="just">
              <a:lnSpc>
                <a:spcPct val="105000"/>
              </a:lnSpc>
              <a:spcBef>
                <a:spcPts val="0"/>
              </a:spcBef>
              <a:spcAft>
                <a:spcPts val="0"/>
              </a:spcAft>
              <a:buClr>
                <a:schemeClr val="dk1"/>
              </a:buClr>
              <a:buSzPts val="1000"/>
              <a:buFont typeface="Montserrat"/>
              <a:buChar char="●"/>
            </a:pPr>
            <a:r>
              <a:rPr lang="en-GB" sz="1000">
                <a:solidFill>
                  <a:schemeClr val="dk1"/>
                </a:solidFill>
                <a:latin typeface="Montserrat Light"/>
                <a:ea typeface="Montserrat Light"/>
                <a:cs typeface="Montserrat Light"/>
                <a:sym typeface="Montserrat Light"/>
              </a:rPr>
              <a:t>Une roadmap mettant en œuvre les objectifs de la stratégie</a:t>
            </a:r>
            <a:endParaRPr sz="1000">
              <a:solidFill>
                <a:schemeClr val="dk1"/>
              </a:solidFill>
              <a:latin typeface="Montserrat Light"/>
              <a:ea typeface="Montserrat Light"/>
              <a:cs typeface="Montserrat Light"/>
              <a:sym typeface="Montserrat Light"/>
            </a:endParaRPr>
          </a:p>
          <a:p>
            <a:pPr indent="-292100" lvl="0" marL="457200" marR="0" rtl="0" algn="just">
              <a:lnSpc>
                <a:spcPct val="105000"/>
              </a:lnSpc>
              <a:spcBef>
                <a:spcPts val="0"/>
              </a:spcBef>
              <a:spcAft>
                <a:spcPts val="0"/>
              </a:spcAft>
              <a:buClr>
                <a:schemeClr val="dk1"/>
              </a:buClr>
              <a:buSzPts val="1000"/>
              <a:buFont typeface="Montserrat"/>
              <a:buChar char="●"/>
            </a:pPr>
            <a:r>
              <a:rPr lang="en-GB" sz="1000">
                <a:solidFill>
                  <a:schemeClr val="dk1"/>
                </a:solidFill>
                <a:latin typeface="Montserrat Light"/>
                <a:ea typeface="Montserrat Light"/>
                <a:cs typeface="Montserrat Light"/>
                <a:sym typeface="Montserrat Light"/>
              </a:rPr>
              <a:t>Un plan d'exécution de la roadmap, basé sur la priorisation des use cases et sur les objectifs opérationnels</a:t>
            </a:r>
            <a:endParaRPr sz="1000">
              <a:solidFill>
                <a:schemeClr val="dk1"/>
              </a:solidFill>
              <a:latin typeface="Montserrat Light"/>
              <a:ea typeface="Montserrat Light"/>
              <a:cs typeface="Montserrat Light"/>
              <a:sym typeface="Montserrat Light"/>
            </a:endParaRPr>
          </a:p>
          <a:p>
            <a:pPr indent="-292100" lvl="0" marL="457200" marR="0" rtl="0" algn="just">
              <a:lnSpc>
                <a:spcPct val="105000"/>
              </a:lnSpc>
              <a:spcBef>
                <a:spcPts val="0"/>
              </a:spcBef>
              <a:spcAft>
                <a:spcPts val="0"/>
              </a:spcAft>
              <a:buClr>
                <a:schemeClr val="dk1"/>
              </a:buClr>
              <a:buSzPts val="1000"/>
              <a:buFont typeface="Montserrat Light"/>
              <a:buChar char="●"/>
            </a:pPr>
            <a:r>
              <a:rPr lang="en-GB" sz="1000">
                <a:solidFill>
                  <a:schemeClr val="dk1"/>
                </a:solidFill>
                <a:latin typeface="Montserrat Light"/>
                <a:ea typeface="Montserrat Light"/>
                <a:cs typeface="Montserrat Light"/>
                <a:sym typeface="Montserrat Light"/>
              </a:rPr>
              <a:t>MEWA a obtenu le 1er prix DGA du gouvernement numérique en 2025 pour la meilleure integration applicative de l’IA  </a:t>
            </a:r>
            <a:endParaRPr sz="1000">
              <a:solidFill>
                <a:schemeClr val="dk1"/>
              </a:solidFill>
              <a:latin typeface="Montserrat Light"/>
              <a:ea typeface="Montserrat Light"/>
              <a:cs typeface="Montserrat Light"/>
              <a:sym typeface="Montserrat Light"/>
            </a:endParaRPr>
          </a:p>
        </p:txBody>
      </p:sp>
      <p:sp>
        <p:nvSpPr>
          <p:cNvPr id="83" name="Google Shape;83;p14"/>
          <p:cNvSpPr txBox="1"/>
          <p:nvPr/>
        </p:nvSpPr>
        <p:spPr>
          <a:xfrm>
            <a:off x="1653950" y="4075650"/>
            <a:ext cx="965100" cy="32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lang="en-GB" sz="1100">
                <a:latin typeface="Montserrat"/>
                <a:ea typeface="Montserrat"/>
                <a:cs typeface="Montserrat"/>
                <a:sym typeface="Montserrat"/>
              </a:rPr>
              <a:t>Secteur public</a:t>
            </a:r>
            <a:endParaRPr b="1" i="0" sz="1100" u="none" cap="none" strike="noStrike">
              <a:solidFill>
                <a:srgbClr val="000000"/>
              </a:solidFill>
              <a:latin typeface="Montserrat"/>
              <a:ea typeface="Montserrat"/>
              <a:cs typeface="Montserrat"/>
              <a:sym typeface="Montserrat"/>
            </a:endParaRPr>
          </a:p>
        </p:txBody>
      </p:sp>
      <p:pic>
        <p:nvPicPr>
          <p:cNvPr id="84" name="Google Shape;84;p14"/>
          <p:cNvPicPr preferRelativeResize="0"/>
          <p:nvPr/>
        </p:nvPicPr>
        <p:blipFill rotWithShape="1">
          <a:blip r:embed="rId3">
            <a:alphaModFix/>
          </a:blip>
          <a:srcRect b="15782" l="0" r="0" t="0"/>
          <a:stretch/>
        </p:blipFill>
        <p:spPr>
          <a:xfrm>
            <a:off x="1325192" y="4075689"/>
            <a:ext cx="383889" cy="323319"/>
          </a:xfrm>
          <a:prstGeom prst="rect">
            <a:avLst/>
          </a:prstGeom>
          <a:noFill/>
          <a:ln>
            <a:noFill/>
          </a:ln>
        </p:spPr>
      </p:pic>
      <p:grpSp>
        <p:nvGrpSpPr>
          <p:cNvPr id="85" name="Google Shape;85;p14"/>
          <p:cNvGrpSpPr/>
          <p:nvPr/>
        </p:nvGrpSpPr>
        <p:grpSpPr>
          <a:xfrm>
            <a:off x="770461" y="4537214"/>
            <a:ext cx="1595065" cy="363248"/>
            <a:chOff x="733185" y="4537214"/>
            <a:chExt cx="1595065" cy="363248"/>
          </a:xfrm>
        </p:grpSpPr>
        <p:grpSp>
          <p:nvGrpSpPr>
            <p:cNvPr id="86" name="Google Shape;86;p14"/>
            <p:cNvGrpSpPr/>
            <p:nvPr/>
          </p:nvGrpSpPr>
          <p:grpSpPr>
            <a:xfrm>
              <a:off x="733185" y="4537214"/>
              <a:ext cx="386073" cy="363248"/>
              <a:chOff x="311150" y="1147763"/>
              <a:chExt cx="669800" cy="671562"/>
            </a:xfrm>
          </p:grpSpPr>
          <p:sp>
            <p:nvSpPr>
              <p:cNvPr id="87" name="Google Shape;87;p14"/>
              <p:cNvSpPr/>
              <p:nvPr/>
            </p:nvSpPr>
            <p:spPr>
              <a:xfrm>
                <a:off x="311150" y="1350963"/>
                <a:ext cx="324000" cy="468300"/>
              </a:xfrm>
              <a:custGeom>
                <a:rect b="b" l="l" r="r" t="t"/>
                <a:pathLst>
                  <a:path extrusionOk="0" h="120000" w="120000">
                    <a:moveTo>
                      <a:pt x="119999" y="120000"/>
                    </a:moveTo>
                    <a:cubicBezTo>
                      <a:pt x="53684" y="118536"/>
                      <a:pt x="0" y="80487"/>
                      <a:pt x="0" y="33658"/>
                    </a:cubicBezTo>
                    <a:cubicBezTo>
                      <a:pt x="0" y="21951"/>
                      <a:pt x="4210" y="10243"/>
                      <a:pt x="10526" y="0"/>
                    </a:cubicBezTo>
                    <a:cubicBezTo>
                      <a:pt x="35789" y="6585"/>
                      <a:pt x="35789" y="6585"/>
                      <a:pt x="35789" y="6585"/>
                    </a:cubicBezTo>
                    <a:cubicBezTo>
                      <a:pt x="30526" y="14634"/>
                      <a:pt x="27368" y="24146"/>
                      <a:pt x="27368" y="33658"/>
                    </a:cubicBezTo>
                    <a:cubicBezTo>
                      <a:pt x="27368" y="70243"/>
                      <a:pt x="68421" y="99512"/>
                      <a:pt x="119999" y="100975"/>
                    </a:cubicBezTo>
                    <a:lnTo>
                      <a:pt x="119999" y="12000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sp>
            <p:nvSpPr>
              <p:cNvPr id="88" name="Google Shape;88;p14"/>
              <p:cNvSpPr/>
              <p:nvPr/>
            </p:nvSpPr>
            <p:spPr>
              <a:xfrm>
                <a:off x="641350" y="1147763"/>
                <a:ext cx="339600" cy="436500"/>
              </a:xfrm>
              <a:custGeom>
                <a:rect b="b" l="l" r="r" t="t"/>
                <a:pathLst>
                  <a:path extrusionOk="0" h="120000" w="120000">
                    <a:moveTo>
                      <a:pt x="1008" y="0"/>
                    </a:moveTo>
                    <a:cubicBezTo>
                      <a:pt x="66554" y="0"/>
                      <a:pt x="120000" y="41568"/>
                      <a:pt x="120000" y="91764"/>
                    </a:cubicBezTo>
                    <a:cubicBezTo>
                      <a:pt x="120000" y="101960"/>
                      <a:pt x="117983" y="111372"/>
                      <a:pt x="113949" y="120000"/>
                    </a:cubicBezTo>
                    <a:cubicBezTo>
                      <a:pt x="113949" y="120000"/>
                      <a:pt x="113949" y="120000"/>
                      <a:pt x="113949" y="120000"/>
                    </a:cubicBezTo>
                    <a:cubicBezTo>
                      <a:pt x="89747" y="112941"/>
                      <a:pt x="89747" y="112941"/>
                      <a:pt x="89747" y="112941"/>
                    </a:cubicBezTo>
                    <a:cubicBezTo>
                      <a:pt x="89747" y="112941"/>
                      <a:pt x="89747" y="112941"/>
                      <a:pt x="89747" y="112941"/>
                    </a:cubicBezTo>
                    <a:cubicBezTo>
                      <a:pt x="91764" y="106666"/>
                      <a:pt x="93781" y="99607"/>
                      <a:pt x="93781" y="91764"/>
                    </a:cubicBezTo>
                    <a:cubicBezTo>
                      <a:pt x="93781" y="52549"/>
                      <a:pt x="52436" y="20392"/>
                      <a:pt x="1008" y="20392"/>
                    </a:cubicBezTo>
                    <a:cubicBezTo>
                      <a:pt x="1008" y="20392"/>
                      <a:pt x="1008" y="20392"/>
                      <a:pt x="0" y="20392"/>
                    </a:cubicBezTo>
                    <a:cubicBezTo>
                      <a:pt x="0" y="20392"/>
                      <a:pt x="0" y="20392"/>
                      <a:pt x="0" y="20392"/>
                    </a:cubicBezTo>
                    <a:cubicBezTo>
                      <a:pt x="1008" y="0"/>
                      <a:pt x="1008" y="0"/>
                      <a:pt x="1008" y="0"/>
                    </a:cubicBezTo>
                    <a:cubicBezTo>
                      <a:pt x="1008" y="0"/>
                      <a:pt x="1008" y="0"/>
                      <a:pt x="1008" y="0"/>
                    </a:cubicBezTo>
                    <a:cubicBezTo>
                      <a:pt x="1008" y="0"/>
                      <a:pt x="1008" y="0"/>
                      <a:pt x="1008" y="0"/>
                    </a:cubicBez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sp>
            <p:nvSpPr>
              <p:cNvPr id="89" name="Google Shape;89;p14"/>
              <p:cNvSpPr/>
              <p:nvPr/>
            </p:nvSpPr>
            <p:spPr>
              <a:xfrm>
                <a:off x="601663" y="1439863"/>
                <a:ext cx="85800" cy="87300"/>
              </a:xfrm>
              <a:prstGeom prst="ellipse">
                <a:avLst/>
              </a:pr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sp>
            <p:nvSpPr>
              <p:cNvPr id="90" name="Google Shape;90;p14"/>
              <p:cNvSpPr/>
              <p:nvPr/>
            </p:nvSpPr>
            <p:spPr>
              <a:xfrm>
                <a:off x="635000" y="1558925"/>
                <a:ext cx="328500" cy="260400"/>
              </a:xfrm>
              <a:custGeom>
                <a:rect b="b" l="l" r="r" t="t"/>
                <a:pathLst>
                  <a:path extrusionOk="0" h="120000" w="120000">
                    <a:moveTo>
                      <a:pt x="120000" y="11868"/>
                    </a:moveTo>
                    <a:cubicBezTo>
                      <a:pt x="104347" y="75164"/>
                      <a:pt x="58434" y="120000"/>
                      <a:pt x="3130" y="120000"/>
                    </a:cubicBezTo>
                    <a:cubicBezTo>
                      <a:pt x="2086" y="120000"/>
                      <a:pt x="1043" y="120000"/>
                      <a:pt x="0" y="120000"/>
                    </a:cubicBezTo>
                    <a:cubicBezTo>
                      <a:pt x="0" y="120000"/>
                      <a:pt x="0" y="120000"/>
                      <a:pt x="0" y="120000"/>
                    </a:cubicBezTo>
                    <a:cubicBezTo>
                      <a:pt x="0" y="85714"/>
                      <a:pt x="0" y="85714"/>
                      <a:pt x="0" y="85714"/>
                    </a:cubicBezTo>
                    <a:cubicBezTo>
                      <a:pt x="0" y="85714"/>
                      <a:pt x="0" y="85714"/>
                      <a:pt x="0" y="85714"/>
                    </a:cubicBezTo>
                    <a:cubicBezTo>
                      <a:pt x="1043" y="85714"/>
                      <a:pt x="2086" y="85714"/>
                      <a:pt x="3130" y="85714"/>
                    </a:cubicBezTo>
                    <a:cubicBezTo>
                      <a:pt x="46956" y="85714"/>
                      <a:pt x="82434" y="50109"/>
                      <a:pt x="94956" y="0"/>
                    </a:cubicBezTo>
                    <a:lnTo>
                      <a:pt x="120000" y="11868"/>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sp>
            <p:nvSpPr>
              <p:cNvPr id="91" name="Google Shape;91;p14"/>
              <p:cNvSpPr/>
              <p:nvPr/>
            </p:nvSpPr>
            <p:spPr>
              <a:xfrm>
                <a:off x="339725" y="1147763"/>
                <a:ext cx="304800" cy="228600"/>
              </a:xfrm>
              <a:custGeom>
                <a:rect b="b" l="l" r="r" t="t"/>
                <a:pathLst>
                  <a:path extrusionOk="0" h="120000" w="120000">
                    <a:moveTo>
                      <a:pt x="118878" y="39000"/>
                    </a:moveTo>
                    <a:cubicBezTo>
                      <a:pt x="78504" y="39000"/>
                      <a:pt x="42616" y="72000"/>
                      <a:pt x="26915" y="120000"/>
                    </a:cubicBezTo>
                    <a:cubicBezTo>
                      <a:pt x="26915" y="120000"/>
                      <a:pt x="26915" y="120000"/>
                      <a:pt x="26915" y="120000"/>
                    </a:cubicBezTo>
                    <a:cubicBezTo>
                      <a:pt x="0" y="106500"/>
                      <a:pt x="0" y="106500"/>
                      <a:pt x="0" y="106500"/>
                    </a:cubicBezTo>
                    <a:cubicBezTo>
                      <a:pt x="0" y="106500"/>
                      <a:pt x="0" y="106500"/>
                      <a:pt x="0" y="106500"/>
                    </a:cubicBezTo>
                    <a:cubicBezTo>
                      <a:pt x="20186" y="43500"/>
                      <a:pt x="66168" y="1500"/>
                      <a:pt x="120000" y="0"/>
                    </a:cubicBezTo>
                    <a:lnTo>
                      <a:pt x="118878" y="3900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sp>
            <p:nvSpPr>
              <p:cNvPr id="92" name="Google Shape;92;p14"/>
              <p:cNvSpPr/>
              <p:nvPr/>
            </p:nvSpPr>
            <p:spPr>
              <a:xfrm>
                <a:off x="647700" y="1241425"/>
                <a:ext cx="58800" cy="206400"/>
              </a:xfrm>
              <a:custGeom>
                <a:rect b="b" l="l" r="r" t="t"/>
                <a:pathLst>
                  <a:path extrusionOk="0" h="120000" w="120000">
                    <a:moveTo>
                      <a:pt x="120000" y="0"/>
                    </a:moveTo>
                    <a:cubicBezTo>
                      <a:pt x="120000" y="40000"/>
                      <a:pt x="120000" y="40000"/>
                      <a:pt x="120000" y="40000"/>
                    </a:cubicBezTo>
                    <a:cubicBezTo>
                      <a:pt x="114285" y="80000"/>
                      <a:pt x="114285" y="80000"/>
                      <a:pt x="114285" y="80000"/>
                    </a:cubicBezTo>
                    <a:cubicBezTo>
                      <a:pt x="57142" y="115000"/>
                      <a:pt x="57142" y="115000"/>
                      <a:pt x="57142" y="115000"/>
                    </a:cubicBezTo>
                    <a:cubicBezTo>
                      <a:pt x="45714" y="120000"/>
                      <a:pt x="45714" y="120000"/>
                      <a:pt x="45714" y="120000"/>
                    </a:cubicBezTo>
                    <a:cubicBezTo>
                      <a:pt x="34285" y="118333"/>
                      <a:pt x="17142" y="116666"/>
                      <a:pt x="0" y="115000"/>
                    </a:cubicBezTo>
                    <a:cubicBezTo>
                      <a:pt x="0" y="111666"/>
                      <a:pt x="0" y="111666"/>
                      <a:pt x="0" y="111666"/>
                    </a:cubicBezTo>
                    <a:cubicBezTo>
                      <a:pt x="5714" y="71666"/>
                      <a:pt x="5714" y="71666"/>
                      <a:pt x="5714" y="71666"/>
                    </a:cubicBezTo>
                    <a:cubicBezTo>
                      <a:pt x="62857" y="35000"/>
                      <a:pt x="62857" y="35000"/>
                      <a:pt x="62857" y="35000"/>
                    </a:cubicBezTo>
                    <a:lnTo>
                      <a:pt x="120000"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sp>
            <p:nvSpPr>
              <p:cNvPr id="93" name="Google Shape;93;p14"/>
              <p:cNvSpPr/>
              <p:nvPr/>
            </p:nvSpPr>
            <p:spPr>
              <a:xfrm>
                <a:off x="450850" y="1516063"/>
                <a:ext cx="176100" cy="126900"/>
              </a:xfrm>
              <a:custGeom>
                <a:rect b="b" l="l" r="r" t="t"/>
                <a:pathLst>
                  <a:path extrusionOk="0" h="120000" w="120000">
                    <a:moveTo>
                      <a:pt x="0" y="120000"/>
                    </a:moveTo>
                    <a:cubicBezTo>
                      <a:pt x="29032" y="76363"/>
                      <a:pt x="29032" y="76363"/>
                      <a:pt x="29032" y="76363"/>
                    </a:cubicBezTo>
                    <a:cubicBezTo>
                      <a:pt x="56129" y="35454"/>
                      <a:pt x="56129" y="35454"/>
                      <a:pt x="56129" y="35454"/>
                    </a:cubicBezTo>
                    <a:cubicBezTo>
                      <a:pt x="94838" y="10909"/>
                      <a:pt x="94838" y="10909"/>
                      <a:pt x="94838" y="10909"/>
                    </a:cubicBezTo>
                    <a:cubicBezTo>
                      <a:pt x="112258" y="0"/>
                      <a:pt x="112258" y="0"/>
                      <a:pt x="112258" y="0"/>
                    </a:cubicBezTo>
                    <a:cubicBezTo>
                      <a:pt x="114193" y="2727"/>
                      <a:pt x="118064" y="2727"/>
                      <a:pt x="120000" y="5454"/>
                    </a:cubicBezTo>
                    <a:cubicBezTo>
                      <a:pt x="104516" y="30000"/>
                      <a:pt x="104516" y="30000"/>
                      <a:pt x="104516" y="30000"/>
                    </a:cubicBezTo>
                    <a:cubicBezTo>
                      <a:pt x="77419" y="73636"/>
                      <a:pt x="77419" y="73636"/>
                      <a:pt x="77419" y="73636"/>
                    </a:cubicBezTo>
                    <a:cubicBezTo>
                      <a:pt x="38709" y="95454"/>
                      <a:pt x="38709" y="95454"/>
                      <a:pt x="38709" y="95454"/>
                    </a:cubicBezTo>
                    <a:lnTo>
                      <a:pt x="0" y="12000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grpSp>
        <p:sp>
          <p:nvSpPr>
            <p:cNvPr id="94" name="Google Shape;94;p14"/>
            <p:cNvSpPr txBox="1"/>
            <p:nvPr/>
          </p:nvSpPr>
          <p:spPr>
            <a:xfrm>
              <a:off x="1119250" y="4561750"/>
              <a:ext cx="12090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Montserrat"/>
                  <a:ea typeface="Montserrat"/>
                  <a:cs typeface="Montserrat"/>
                  <a:sym typeface="Montserrat"/>
                </a:rPr>
                <a:t>202</a:t>
              </a:r>
              <a:r>
                <a:rPr lang="en-GB" sz="1000">
                  <a:latin typeface="Montserrat"/>
                  <a:ea typeface="Montserrat"/>
                  <a:cs typeface="Montserrat"/>
                  <a:sym typeface="Montserrat"/>
                </a:rPr>
                <a:t>4</a:t>
              </a:r>
              <a:r>
                <a:rPr b="0" i="0" lang="en-GB" sz="1000" u="none" cap="none" strike="noStrike">
                  <a:solidFill>
                    <a:srgbClr val="000000"/>
                  </a:solidFill>
                  <a:latin typeface="Montserrat"/>
                  <a:ea typeface="Montserrat"/>
                  <a:cs typeface="Montserrat"/>
                  <a:sym typeface="Montserrat"/>
                </a:rPr>
                <a:t> / 202</a:t>
              </a:r>
              <a:r>
                <a:rPr lang="en-GB" sz="1000">
                  <a:latin typeface="Montserrat"/>
                  <a:ea typeface="Montserrat"/>
                  <a:cs typeface="Montserrat"/>
                  <a:sym typeface="Montserrat"/>
                </a:rPr>
                <a:t>5</a:t>
              </a:r>
              <a:endParaRPr b="0" i="0" sz="1000" u="none" cap="none" strike="noStrike">
                <a:solidFill>
                  <a:srgbClr val="000000"/>
                </a:solidFill>
                <a:latin typeface="Montserrat"/>
                <a:ea typeface="Montserrat"/>
                <a:cs typeface="Montserrat"/>
                <a:sym typeface="Montserrat"/>
              </a:endParaRPr>
            </a:p>
          </p:txBody>
        </p:sp>
      </p:grpSp>
      <p:pic>
        <p:nvPicPr>
          <p:cNvPr id="95" name="Google Shape;95;p14"/>
          <p:cNvPicPr preferRelativeResize="0"/>
          <p:nvPr/>
        </p:nvPicPr>
        <p:blipFill rotWithShape="1">
          <a:blip r:embed="rId4">
            <a:alphaModFix/>
          </a:blip>
          <a:srcRect b="0" l="0" r="0" t="0"/>
          <a:stretch/>
        </p:blipFill>
        <p:spPr>
          <a:xfrm>
            <a:off x="105996" y="4776975"/>
            <a:ext cx="229582" cy="229800"/>
          </a:xfrm>
          <a:prstGeom prst="rect">
            <a:avLst/>
          </a:prstGeom>
          <a:noFill/>
          <a:ln>
            <a:noFill/>
          </a:ln>
        </p:spPr>
      </p:pic>
      <p:pic>
        <p:nvPicPr>
          <p:cNvPr id="96" name="Google Shape;96;p14" title="1.jpg"/>
          <p:cNvPicPr preferRelativeResize="0"/>
          <p:nvPr/>
        </p:nvPicPr>
        <p:blipFill rotWithShape="1">
          <a:blip r:embed="rId5">
            <a:alphaModFix/>
          </a:blip>
          <a:srcRect b="0" l="18494" r="18494" t="0"/>
          <a:stretch/>
        </p:blipFill>
        <p:spPr>
          <a:xfrm>
            <a:off x="-319325" y="-883725"/>
            <a:ext cx="3162900" cy="2977200"/>
          </a:xfrm>
          <a:prstGeom prst="ellipse">
            <a:avLst/>
          </a:prstGeom>
          <a:noFill/>
          <a:ln>
            <a:noFill/>
          </a:ln>
        </p:spPr>
      </p:pic>
      <p:pic>
        <p:nvPicPr>
          <p:cNvPr id="97" name="Google Shape;97;p14" title="images.jpg"/>
          <p:cNvPicPr preferRelativeResize="0"/>
          <p:nvPr/>
        </p:nvPicPr>
        <p:blipFill>
          <a:blip r:embed="rId6">
            <a:alphaModFix/>
          </a:blip>
          <a:stretch>
            <a:fillRect/>
          </a:stretch>
        </p:blipFill>
        <p:spPr>
          <a:xfrm>
            <a:off x="635000" y="3920100"/>
            <a:ext cx="634500" cy="634500"/>
          </a:xfrm>
          <a:prstGeom prst="rect">
            <a:avLst/>
          </a:prstGeom>
          <a:noFill/>
          <a:ln>
            <a:noFill/>
          </a:ln>
        </p:spPr>
      </p:pic>
      <p:pic>
        <p:nvPicPr>
          <p:cNvPr id="98" name="Google Shape;98;p14"/>
          <p:cNvPicPr preferRelativeResize="0"/>
          <p:nvPr/>
        </p:nvPicPr>
        <p:blipFill>
          <a:blip r:embed="rId7">
            <a:alphaModFix/>
          </a:blip>
          <a:stretch>
            <a:fillRect/>
          </a:stretch>
        </p:blipFill>
        <p:spPr>
          <a:xfrm>
            <a:off x="1084468" y="2170725"/>
            <a:ext cx="736504" cy="393094"/>
          </a:xfrm>
          <a:prstGeom prst="rect">
            <a:avLst/>
          </a:prstGeom>
          <a:noFill/>
          <a:ln>
            <a:noFill/>
          </a:ln>
        </p:spPr>
      </p:pic>
      <p:sp>
        <p:nvSpPr>
          <p:cNvPr id="99" name="Google Shape;99;p14"/>
          <p:cNvSpPr txBox="1"/>
          <p:nvPr/>
        </p:nvSpPr>
        <p:spPr>
          <a:xfrm>
            <a:off x="8394208" y="4617617"/>
            <a:ext cx="5487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GB" sz="1000">
                <a:solidFill>
                  <a:srgbClr val="595959"/>
                </a:solidFill>
                <a:latin typeface="Montserrat"/>
                <a:ea typeface="Montserrat"/>
                <a:cs typeface="Montserrat"/>
                <a:sym typeface="Montserrat"/>
              </a:rPr>
              <a:t>‹#›</a:t>
            </a:fld>
            <a:endParaRPr b="1" sz="1000">
              <a:solidFill>
                <a:srgbClr val="595959"/>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ph idx="4294967295" type="subTitle"/>
          </p:nvPr>
        </p:nvSpPr>
        <p:spPr>
          <a:xfrm>
            <a:off x="297725" y="2744389"/>
            <a:ext cx="2466000" cy="10434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lang="en-GB" sz="1200">
                <a:solidFill>
                  <a:schemeClr val="dk1"/>
                </a:solidFill>
                <a:latin typeface="Montserrat"/>
                <a:ea typeface="Montserrat"/>
                <a:cs typeface="Montserrat"/>
                <a:sym typeface="Montserrat"/>
              </a:rPr>
              <a:t>MHRSD KSA  Strategie IA /</a:t>
            </a:r>
            <a:endParaRPr sz="1200">
              <a:solidFill>
                <a:schemeClr val="dk1"/>
              </a:solidFill>
              <a:latin typeface="Montserrat"/>
              <a:ea typeface="Montserrat"/>
              <a:cs typeface="Montserrat"/>
              <a:sym typeface="Montserrat"/>
            </a:endParaRPr>
          </a:p>
          <a:p>
            <a:pPr indent="0" lvl="0" marL="0" marR="0" rtl="0" algn="ctr">
              <a:lnSpc>
                <a:spcPct val="115000"/>
              </a:lnSpc>
              <a:spcBef>
                <a:spcPts val="0"/>
              </a:spcBef>
              <a:spcAft>
                <a:spcPts val="0"/>
              </a:spcAft>
              <a:buClr>
                <a:srgbClr val="000000"/>
              </a:buClr>
              <a:buSzPts val="1200"/>
              <a:buFont typeface="Arial"/>
              <a:buNone/>
            </a:pPr>
            <a:r>
              <a:rPr lang="en-GB" sz="1200">
                <a:solidFill>
                  <a:schemeClr val="dk1"/>
                </a:solidFill>
                <a:latin typeface="Montserrat"/>
                <a:ea typeface="Montserrat"/>
                <a:cs typeface="Montserrat"/>
                <a:sym typeface="Montserrat"/>
              </a:rPr>
              <a:t>modèle opérationnel / IA Lab </a:t>
            </a:r>
            <a:endParaRPr sz="1200">
              <a:solidFill>
                <a:schemeClr val="dk1"/>
              </a:solidFill>
              <a:latin typeface="Montserrat"/>
              <a:ea typeface="Montserrat"/>
              <a:cs typeface="Montserrat"/>
              <a:sym typeface="Montserrat"/>
            </a:endParaRPr>
          </a:p>
          <a:p>
            <a:pPr indent="0" lvl="0" marL="0" marR="0" rtl="0" algn="ctr">
              <a:lnSpc>
                <a:spcPct val="115000"/>
              </a:lnSpc>
              <a:spcBef>
                <a:spcPts val="0"/>
              </a:spcBef>
              <a:spcAft>
                <a:spcPts val="0"/>
              </a:spcAft>
              <a:buClr>
                <a:srgbClr val="000000"/>
              </a:buClr>
              <a:buSzPts val="1200"/>
              <a:buFont typeface="Arial"/>
              <a:buNone/>
            </a:pPr>
            <a:r>
              <a:rPr lang="en-GB" sz="1200">
                <a:solidFill>
                  <a:schemeClr val="dk1"/>
                </a:solidFill>
                <a:latin typeface="Montserrat"/>
                <a:ea typeface="Montserrat"/>
                <a:cs typeface="Montserrat"/>
                <a:sym typeface="Montserrat"/>
              </a:rPr>
              <a:t>cadre de gouvernance IA </a:t>
            </a:r>
            <a:endParaRPr sz="1200">
              <a:solidFill>
                <a:schemeClr val="dk1"/>
              </a:solidFill>
              <a:latin typeface="Montserrat"/>
              <a:ea typeface="Montserrat"/>
              <a:cs typeface="Montserrat"/>
              <a:sym typeface="Montserrat"/>
            </a:endParaRPr>
          </a:p>
          <a:p>
            <a:pPr indent="0" lvl="0" marL="0" marR="0" rtl="0" algn="ctr">
              <a:lnSpc>
                <a:spcPct val="115000"/>
              </a:lnSpc>
              <a:spcBef>
                <a:spcPts val="0"/>
              </a:spcBef>
              <a:spcAft>
                <a:spcPts val="0"/>
              </a:spcAft>
              <a:buClr>
                <a:srgbClr val="000000"/>
              </a:buClr>
              <a:buSzPts val="1200"/>
              <a:buFont typeface="Arial"/>
              <a:buNone/>
            </a:pPr>
            <a:r>
              <a:rPr lang="en-GB" sz="1200">
                <a:solidFill>
                  <a:schemeClr val="dk1"/>
                </a:solidFill>
                <a:latin typeface="Montserrat"/>
                <a:ea typeface="Montserrat"/>
                <a:cs typeface="Montserrat"/>
                <a:sym typeface="Montserrat"/>
              </a:rPr>
              <a:t>Participation AI index NAII</a:t>
            </a:r>
            <a:endParaRPr sz="1200">
              <a:solidFill>
                <a:schemeClr val="dk1"/>
              </a:solidFill>
              <a:latin typeface="Montserrat"/>
              <a:ea typeface="Montserrat"/>
              <a:cs typeface="Montserrat"/>
              <a:sym typeface="Montserrat"/>
            </a:endParaRPr>
          </a:p>
        </p:txBody>
      </p:sp>
      <p:sp>
        <p:nvSpPr>
          <p:cNvPr id="105" name="Google Shape;105;p15"/>
          <p:cNvSpPr txBox="1"/>
          <p:nvPr>
            <p:ph idx="4294967295" type="body"/>
          </p:nvPr>
        </p:nvSpPr>
        <p:spPr>
          <a:xfrm>
            <a:off x="3458175" y="2087225"/>
            <a:ext cx="5464200" cy="1645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EB475E"/>
                </a:solidFill>
                <a:latin typeface="Montserrat"/>
                <a:ea typeface="Montserrat"/>
                <a:cs typeface="Montserrat"/>
                <a:sym typeface="Montserrat"/>
              </a:rPr>
              <a:t>Réalisations </a:t>
            </a:r>
            <a:endParaRPr b="0" i="0" sz="1000" u="none" cap="none" strike="noStrike">
              <a:solidFill>
                <a:srgbClr val="EB475E"/>
              </a:solidFill>
              <a:latin typeface="Montserrat"/>
              <a:ea typeface="Montserrat"/>
              <a:cs typeface="Montserrat"/>
              <a:sym typeface="Montserrat"/>
            </a:endParaRPr>
          </a:p>
          <a:p>
            <a:pPr indent="-292100" lvl="0" marL="457200" marR="0" rtl="0" algn="just">
              <a:lnSpc>
                <a:spcPct val="105000"/>
              </a:lnSpc>
              <a:spcBef>
                <a:spcPts val="0"/>
              </a:spcBef>
              <a:spcAft>
                <a:spcPts val="0"/>
              </a:spcAft>
              <a:buClr>
                <a:schemeClr val="dk1"/>
              </a:buClr>
              <a:buSzPts val="1000"/>
              <a:buFont typeface="Montserrat"/>
              <a:buChar char="●"/>
            </a:pPr>
            <a:r>
              <a:rPr lang="en-GB" sz="1000">
                <a:solidFill>
                  <a:schemeClr val="dk1"/>
                </a:solidFill>
                <a:latin typeface="Montserrat Light"/>
                <a:ea typeface="Montserrat Light"/>
                <a:cs typeface="Montserrat Light"/>
                <a:sym typeface="Montserrat Light"/>
              </a:rPr>
              <a:t>Collecte des use cases et unification du catalogue des use cases</a:t>
            </a:r>
            <a:endParaRPr sz="1000">
              <a:solidFill>
                <a:schemeClr val="dk1"/>
              </a:solidFill>
              <a:latin typeface="Montserrat Light"/>
              <a:ea typeface="Montserrat Light"/>
              <a:cs typeface="Montserrat Light"/>
              <a:sym typeface="Montserrat Light"/>
            </a:endParaRPr>
          </a:p>
          <a:p>
            <a:pPr indent="-292100" lvl="0" marL="457200" marR="0" rtl="0" algn="just">
              <a:lnSpc>
                <a:spcPct val="105000"/>
              </a:lnSpc>
              <a:spcBef>
                <a:spcPts val="0"/>
              </a:spcBef>
              <a:spcAft>
                <a:spcPts val="0"/>
              </a:spcAft>
              <a:buClr>
                <a:schemeClr val="dk1"/>
              </a:buClr>
              <a:buSzPts val="1000"/>
              <a:buFont typeface="Montserrat"/>
              <a:buChar char="●"/>
            </a:pPr>
            <a:r>
              <a:rPr lang="en-GB" sz="1000">
                <a:solidFill>
                  <a:schemeClr val="dk1"/>
                </a:solidFill>
                <a:latin typeface="Montserrat Light"/>
                <a:ea typeface="Montserrat Light"/>
                <a:cs typeface="Montserrat Light"/>
                <a:sym typeface="Montserrat Light"/>
              </a:rPr>
              <a:t>Alignement de la stratégie IA avec les stratégies du ministère (Business et digital transformation)</a:t>
            </a:r>
            <a:endParaRPr sz="1000">
              <a:solidFill>
                <a:schemeClr val="dk1"/>
              </a:solidFill>
              <a:latin typeface="Montserrat Light"/>
              <a:ea typeface="Montserrat Light"/>
              <a:cs typeface="Montserrat Light"/>
              <a:sym typeface="Montserrat Light"/>
            </a:endParaRPr>
          </a:p>
          <a:p>
            <a:pPr indent="-292100" lvl="0" marL="457200" marR="0" rtl="0" algn="just">
              <a:lnSpc>
                <a:spcPct val="105000"/>
              </a:lnSpc>
              <a:spcBef>
                <a:spcPts val="0"/>
              </a:spcBef>
              <a:spcAft>
                <a:spcPts val="0"/>
              </a:spcAft>
              <a:buClr>
                <a:schemeClr val="dk1"/>
              </a:buClr>
              <a:buSzPts val="1000"/>
              <a:buFont typeface="Montserrat"/>
              <a:buChar char="●"/>
            </a:pPr>
            <a:r>
              <a:rPr lang="en-GB" sz="1000">
                <a:solidFill>
                  <a:schemeClr val="dk1"/>
                </a:solidFill>
                <a:latin typeface="Montserrat Light"/>
                <a:ea typeface="Montserrat Light"/>
                <a:cs typeface="Montserrat Light"/>
                <a:sym typeface="Montserrat Light"/>
              </a:rPr>
              <a:t>Élaboration des objectifs de la stratégie IA</a:t>
            </a:r>
            <a:endParaRPr sz="1000">
              <a:solidFill>
                <a:schemeClr val="dk1"/>
              </a:solidFill>
              <a:latin typeface="Montserrat Light"/>
              <a:ea typeface="Montserrat Light"/>
              <a:cs typeface="Montserrat Light"/>
              <a:sym typeface="Montserrat Light"/>
            </a:endParaRPr>
          </a:p>
          <a:p>
            <a:pPr indent="-292100" lvl="0" marL="457200" marR="0" rtl="0" algn="just">
              <a:lnSpc>
                <a:spcPct val="105000"/>
              </a:lnSpc>
              <a:spcBef>
                <a:spcPts val="0"/>
              </a:spcBef>
              <a:spcAft>
                <a:spcPts val="0"/>
              </a:spcAft>
              <a:buClr>
                <a:schemeClr val="dk1"/>
              </a:buClr>
              <a:buSzPts val="1000"/>
              <a:buFont typeface="Montserrat"/>
              <a:buChar char="●"/>
            </a:pPr>
            <a:r>
              <a:rPr lang="en-GB" sz="1000">
                <a:solidFill>
                  <a:schemeClr val="dk1"/>
                </a:solidFill>
                <a:latin typeface="Montserrat Light"/>
                <a:ea typeface="Montserrat Light"/>
                <a:cs typeface="Montserrat Light"/>
                <a:sym typeface="Montserrat Light"/>
              </a:rPr>
              <a:t>Définition des orientations stratégiques du ministère pour l'adoption de l'IA</a:t>
            </a:r>
            <a:endParaRPr sz="1000">
              <a:solidFill>
                <a:schemeClr val="dk1"/>
              </a:solidFill>
              <a:latin typeface="Montserrat Light"/>
              <a:ea typeface="Montserrat Light"/>
              <a:cs typeface="Montserrat Light"/>
              <a:sym typeface="Montserrat Light"/>
            </a:endParaRPr>
          </a:p>
          <a:p>
            <a:pPr indent="-292100" lvl="0" marL="457200" marR="0" rtl="0" algn="just">
              <a:lnSpc>
                <a:spcPct val="105000"/>
              </a:lnSpc>
              <a:spcBef>
                <a:spcPts val="0"/>
              </a:spcBef>
              <a:spcAft>
                <a:spcPts val="0"/>
              </a:spcAft>
              <a:buClr>
                <a:schemeClr val="dk1"/>
              </a:buClr>
              <a:buSzPts val="1000"/>
              <a:buFont typeface="Montserrat"/>
              <a:buChar char="●"/>
            </a:pPr>
            <a:r>
              <a:rPr lang="en-GB" sz="1000">
                <a:solidFill>
                  <a:schemeClr val="dk1"/>
                </a:solidFill>
                <a:latin typeface="Montserrat Light"/>
                <a:ea typeface="Montserrat Light"/>
                <a:cs typeface="Montserrat Light"/>
                <a:sym typeface="Montserrat Light"/>
              </a:rPr>
              <a:t>Définition des initiatives et alignement avec les objectifs de la stratégie</a:t>
            </a:r>
            <a:endParaRPr sz="1000">
              <a:solidFill>
                <a:schemeClr val="dk1"/>
              </a:solidFill>
              <a:latin typeface="Montserrat Light"/>
              <a:ea typeface="Montserrat Light"/>
              <a:cs typeface="Montserrat Light"/>
              <a:sym typeface="Montserrat Light"/>
            </a:endParaRPr>
          </a:p>
          <a:p>
            <a:pPr indent="-292100" lvl="0" marL="457200" marR="0" rtl="0" algn="just">
              <a:lnSpc>
                <a:spcPct val="105000"/>
              </a:lnSpc>
              <a:spcBef>
                <a:spcPts val="0"/>
              </a:spcBef>
              <a:spcAft>
                <a:spcPts val="0"/>
              </a:spcAft>
              <a:buClr>
                <a:schemeClr val="dk1"/>
              </a:buClr>
              <a:buSzPts val="1000"/>
              <a:buFont typeface="Montserrat"/>
              <a:buChar char="●"/>
            </a:pPr>
            <a:r>
              <a:rPr lang="en-GB" sz="1000">
                <a:solidFill>
                  <a:schemeClr val="dk1"/>
                </a:solidFill>
                <a:latin typeface="Montserrat Light"/>
                <a:ea typeface="Montserrat Light"/>
                <a:cs typeface="Montserrat Light"/>
                <a:sym typeface="Montserrat Light"/>
              </a:rPr>
              <a:t>Élaboration du modèle opérationnel du centre d'excellence IA du MHRSD</a:t>
            </a:r>
            <a:endParaRPr sz="1000">
              <a:solidFill>
                <a:schemeClr val="dk1"/>
              </a:solidFill>
              <a:latin typeface="Montserrat Light"/>
              <a:ea typeface="Montserrat Light"/>
              <a:cs typeface="Montserrat Light"/>
              <a:sym typeface="Montserrat Light"/>
            </a:endParaRPr>
          </a:p>
          <a:p>
            <a:pPr indent="-292100" lvl="0" marL="457200" marR="0" rtl="0" algn="just">
              <a:lnSpc>
                <a:spcPct val="105000"/>
              </a:lnSpc>
              <a:spcBef>
                <a:spcPts val="0"/>
              </a:spcBef>
              <a:spcAft>
                <a:spcPts val="0"/>
              </a:spcAft>
              <a:buClr>
                <a:schemeClr val="dk1"/>
              </a:buClr>
              <a:buSzPts val="1000"/>
              <a:buFont typeface="Montserrat"/>
              <a:buChar char="●"/>
            </a:pPr>
            <a:r>
              <a:rPr lang="en-GB" sz="1000">
                <a:solidFill>
                  <a:schemeClr val="dk1"/>
                </a:solidFill>
                <a:latin typeface="Montserrat Light"/>
                <a:ea typeface="Montserrat Light"/>
                <a:cs typeface="Montserrat Light"/>
                <a:sym typeface="Montserrat Light"/>
              </a:rPr>
              <a:t>Élaboration du modèle de gouvernance IA, encadrant le cycle de vie des applications IA et des parties prenantes</a:t>
            </a:r>
            <a:endParaRPr sz="1000">
              <a:solidFill>
                <a:schemeClr val="dk1"/>
              </a:solidFill>
              <a:latin typeface="Montserrat Light"/>
              <a:ea typeface="Montserrat Light"/>
              <a:cs typeface="Montserrat Light"/>
              <a:sym typeface="Montserrat Light"/>
            </a:endParaRPr>
          </a:p>
          <a:p>
            <a:pPr indent="-292100" lvl="0" marL="457200" marR="0" rtl="0" algn="just">
              <a:lnSpc>
                <a:spcPct val="105000"/>
              </a:lnSpc>
              <a:spcBef>
                <a:spcPts val="0"/>
              </a:spcBef>
              <a:spcAft>
                <a:spcPts val="0"/>
              </a:spcAft>
              <a:buClr>
                <a:schemeClr val="dk1"/>
              </a:buClr>
              <a:buSzPts val="1000"/>
              <a:buFont typeface="Montserrat"/>
              <a:buChar char="●"/>
            </a:pPr>
            <a:r>
              <a:rPr lang="en-GB" sz="1000">
                <a:solidFill>
                  <a:schemeClr val="dk1"/>
                </a:solidFill>
                <a:latin typeface="Montserrat Light"/>
                <a:ea typeface="Montserrat Light"/>
                <a:cs typeface="Montserrat Light"/>
                <a:sym typeface="Montserrat Light"/>
              </a:rPr>
              <a:t>Contribution à l'élaboration de l'audit</a:t>
            </a:r>
            <a:r>
              <a:rPr b="1" lang="en-GB" sz="1000">
                <a:solidFill>
                  <a:schemeClr val="dk1"/>
                </a:solidFill>
                <a:latin typeface="Montserrat"/>
                <a:ea typeface="Montserrat"/>
                <a:cs typeface="Montserrat"/>
                <a:sym typeface="Montserrat"/>
              </a:rPr>
              <a:t> national AI Index KSA</a:t>
            </a:r>
            <a:endParaRPr b="1" sz="1000">
              <a:solidFill>
                <a:schemeClr val="dk1"/>
              </a:solidFill>
              <a:latin typeface="Montserrat"/>
              <a:ea typeface="Montserrat"/>
              <a:cs typeface="Montserrat"/>
              <a:sym typeface="Montserrat"/>
            </a:endParaRPr>
          </a:p>
          <a:p>
            <a:pPr indent="0" lvl="0" marL="0" marR="0" rtl="0" algn="l">
              <a:lnSpc>
                <a:spcPct val="105000"/>
              </a:lnSpc>
              <a:spcBef>
                <a:spcPts val="0"/>
              </a:spcBef>
              <a:spcAft>
                <a:spcPts val="0"/>
              </a:spcAft>
              <a:buClr>
                <a:srgbClr val="000000"/>
              </a:buClr>
              <a:buSzPts val="900"/>
              <a:buFont typeface="Arial"/>
              <a:buNone/>
            </a:pPr>
            <a:r>
              <a:t/>
            </a:r>
            <a:endParaRPr b="0" i="0" sz="1000" u="none" cap="none" strike="noStrike">
              <a:solidFill>
                <a:schemeClr val="dk1"/>
              </a:solidFill>
              <a:latin typeface="Montserrat"/>
              <a:ea typeface="Montserrat"/>
              <a:cs typeface="Montserrat"/>
              <a:sym typeface="Montserrat"/>
            </a:endParaRPr>
          </a:p>
        </p:txBody>
      </p:sp>
      <p:sp>
        <p:nvSpPr>
          <p:cNvPr id="106" name="Google Shape;106;p15"/>
          <p:cNvSpPr txBox="1"/>
          <p:nvPr>
            <p:ph idx="4294967295" type="body"/>
          </p:nvPr>
        </p:nvSpPr>
        <p:spPr>
          <a:xfrm>
            <a:off x="3336675" y="479376"/>
            <a:ext cx="5585700" cy="1218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F8475E"/>
                </a:solidFill>
                <a:latin typeface="Montserrat"/>
                <a:ea typeface="Montserrat"/>
                <a:cs typeface="Montserrat"/>
                <a:sym typeface="Montserrat"/>
              </a:rPr>
              <a:t>Challenges </a:t>
            </a:r>
            <a:endParaRPr b="0" i="0" sz="900" u="none" cap="none" strike="noStrike">
              <a:solidFill>
                <a:srgbClr val="F8475E"/>
              </a:solidFill>
              <a:latin typeface="Montserrat"/>
              <a:ea typeface="Montserrat"/>
              <a:cs typeface="Montserrat"/>
              <a:sym typeface="Montserrat"/>
            </a:endParaRPr>
          </a:p>
          <a:p>
            <a:pPr indent="-292100" lvl="0" marL="457200" rtl="0" algn="just">
              <a:lnSpc>
                <a:spcPct val="105000"/>
              </a:lnSpc>
              <a:spcBef>
                <a:spcPts val="0"/>
              </a:spcBef>
              <a:spcAft>
                <a:spcPts val="0"/>
              </a:spcAft>
              <a:buClr>
                <a:schemeClr val="dk1"/>
              </a:buClr>
              <a:buSzPts val="1000"/>
              <a:buFont typeface="Montserrat Light"/>
              <a:buChar char="●"/>
            </a:pPr>
            <a:r>
              <a:rPr lang="en-GB" sz="1000">
                <a:solidFill>
                  <a:schemeClr val="dk1"/>
                </a:solidFill>
                <a:latin typeface="Montserrat Light"/>
                <a:ea typeface="Montserrat Light"/>
                <a:cs typeface="Montserrat Light"/>
                <a:sym typeface="Montserrat Light"/>
              </a:rPr>
              <a:t>Manque d'alignement entre les stratégies data, digital transformation et la stratégie Business</a:t>
            </a:r>
            <a:endParaRPr sz="1000">
              <a:solidFill>
                <a:schemeClr val="dk1"/>
              </a:solidFill>
              <a:latin typeface="Montserrat Light"/>
              <a:ea typeface="Montserrat Light"/>
              <a:cs typeface="Montserrat Light"/>
              <a:sym typeface="Montserrat Light"/>
            </a:endParaRPr>
          </a:p>
          <a:p>
            <a:pPr indent="-292100" lvl="0" marL="457200" rtl="0" algn="just">
              <a:lnSpc>
                <a:spcPct val="105000"/>
              </a:lnSpc>
              <a:spcBef>
                <a:spcPts val="1200"/>
              </a:spcBef>
              <a:spcAft>
                <a:spcPts val="0"/>
              </a:spcAft>
              <a:buClr>
                <a:schemeClr val="dk1"/>
              </a:buClr>
              <a:buSzPts val="1000"/>
              <a:buFont typeface="Montserrat Light"/>
              <a:buChar char="●"/>
            </a:pPr>
            <a:r>
              <a:rPr lang="en-GB" sz="1000">
                <a:solidFill>
                  <a:schemeClr val="dk1"/>
                </a:solidFill>
                <a:latin typeface="Montserrat Light"/>
                <a:ea typeface="Montserrat Light"/>
                <a:cs typeface="Montserrat Light"/>
                <a:sym typeface="Montserrat Light"/>
              </a:rPr>
              <a:t>Plusieurs use cases définis par différents départements du ministère, sans priorisation ni orientation stratégique</a:t>
            </a:r>
            <a:endParaRPr sz="1000">
              <a:solidFill>
                <a:schemeClr val="dk1"/>
              </a:solidFill>
              <a:latin typeface="Montserrat Light"/>
              <a:ea typeface="Montserrat Light"/>
              <a:cs typeface="Montserrat Light"/>
              <a:sym typeface="Montserrat Light"/>
            </a:endParaRPr>
          </a:p>
          <a:p>
            <a:pPr indent="-292100" lvl="0" marL="457200" rtl="0" algn="just">
              <a:lnSpc>
                <a:spcPct val="105000"/>
              </a:lnSpc>
              <a:spcBef>
                <a:spcPts val="1200"/>
              </a:spcBef>
              <a:spcAft>
                <a:spcPts val="1200"/>
              </a:spcAft>
              <a:buClr>
                <a:schemeClr val="dk1"/>
              </a:buClr>
              <a:buSzPts val="1000"/>
              <a:buFont typeface="Montserrat Light"/>
              <a:buChar char="●"/>
            </a:pPr>
            <a:r>
              <a:rPr lang="en-GB" sz="1000">
                <a:solidFill>
                  <a:schemeClr val="dk1"/>
                </a:solidFill>
                <a:latin typeface="Montserrat Light"/>
                <a:ea typeface="Montserrat Light"/>
                <a:cs typeface="Montserrat Light"/>
                <a:sym typeface="Montserrat Light"/>
              </a:rPr>
              <a:t>Pas de suivi ni de catégorisation entre les POC, MVP et les spécifications des use cases  </a:t>
            </a:r>
            <a:endParaRPr sz="1000">
              <a:solidFill>
                <a:schemeClr val="dk1"/>
              </a:solidFill>
              <a:latin typeface="Montserrat Light"/>
              <a:ea typeface="Montserrat Light"/>
              <a:cs typeface="Montserrat Light"/>
              <a:sym typeface="Montserrat Light"/>
            </a:endParaRPr>
          </a:p>
        </p:txBody>
      </p:sp>
      <p:sp>
        <p:nvSpPr>
          <p:cNvPr id="107" name="Google Shape;107;p15"/>
          <p:cNvSpPr txBox="1"/>
          <p:nvPr>
            <p:ph idx="4294967295" type="body"/>
          </p:nvPr>
        </p:nvSpPr>
        <p:spPr>
          <a:xfrm>
            <a:off x="3490475" y="3895687"/>
            <a:ext cx="5464200" cy="962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EB475E"/>
                </a:solidFill>
                <a:latin typeface="Montserrat"/>
                <a:ea typeface="Montserrat"/>
                <a:cs typeface="Montserrat"/>
                <a:sym typeface="Montserrat"/>
              </a:rPr>
              <a:t>Bénéfices</a:t>
            </a:r>
            <a:endParaRPr b="0" i="0" sz="900" u="none" cap="none" strike="noStrike">
              <a:solidFill>
                <a:srgbClr val="EB475E"/>
              </a:solidFill>
              <a:latin typeface="Montserrat"/>
              <a:ea typeface="Montserrat"/>
              <a:cs typeface="Montserrat"/>
              <a:sym typeface="Montserrat"/>
            </a:endParaRPr>
          </a:p>
          <a:p>
            <a:pPr indent="-143551" lvl="0" marL="172800" marR="0" rtl="0" algn="just">
              <a:lnSpc>
                <a:spcPct val="100000"/>
              </a:lnSpc>
              <a:spcBef>
                <a:spcPts val="0"/>
              </a:spcBef>
              <a:spcAft>
                <a:spcPts val="0"/>
              </a:spcAft>
              <a:buClr>
                <a:schemeClr val="dk1"/>
              </a:buClr>
              <a:buSzPts val="900"/>
              <a:buFont typeface="Montserrat"/>
              <a:buChar char="●"/>
            </a:pPr>
            <a:r>
              <a:rPr lang="en-GB" sz="900">
                <a:solidFill>
                  <a:schemeClr val="dk1"/>
                </a:solidFill>
                <a:latin typeface="Montserrat"/>
                <a:ea typeface="Montserrat"/>
                <a:cs typeface="Montserrat"/>
                <a:sym typeface="Montserrat"/>
              </a:rPr>
              <a:t>Une roadmap mettant en œuvre les objectifs de la stratégie</a:t>
            </a:r>
            <a:endParaRPr sz="900">
              <a:solidFill>
                <a:schemeClr val="dk1"/>
              </a:solidFill>
              <a:latin typeface="Montserrat"/>
              <a:ea typeface="Montserrat"/>
              <a:cs typeface="Montserrat"/>
              <a:sym typeface="Montserrat"/>
            </a:endParaRPr>
          </a:p>
          <a:p>
            <a:pPr indent="-143551" lvl="0" marL="172800" marR="0" rtl="0" algn="just">
              <a:lnSpc>
                <a:spcPct val="100000"/>
              </a:lnSpc>
              <a:spcBef>
                <a:spcPts val="0"/>
              </a:spcBef>
              <a:spcAft>
                <a:spcPts val="0"/>
              </a:spcAft>
              <a:buClr>
                <a:schemeClr val="dk1"/>
              </a:buClr>
              <a:buSzPts val="900"/>
              <a:buFont typeface="Montserrat"/>
              <a:buChar char="●"/>
            </a:pPr>
            <a:r>
              <a:rPr lang="en-GB" sz="900">
                <a:solidFill>
                  <a:schemeClr val="dk1"/>
                </a:solidFill>
                <a:latin typeface="Montserrat"/>
                <a:ea typeface="Montserrat"/>
                <a:cs typeface="Montserrat"/>
                <a:sym typeface="Montserrat"/>
              </a:rPr>
              <a:t>Une stratégie cohérente et alignée avec les objectifs business</a:t>
            </a:r>
            <a:endParaRPr sz="900">
              <a:solidFill>
                <a:schemeClr val="dk1"/>
              </a:solidFill>
              <a:latin typeface="Montserrat"/>
              <a:ea typeface="Montserrat"/>
              <a:cs typeface="Montserrat"/>
              <a:sym typeface="Montserrat"/>
            </a:endParaRPr>
          </a:p>
          <a:p>
            <a:pPr indent="-143551" lvl="0" marL="172800" marR="0" rtl="0" algn="just">
              <a:lnSpc>
                <a:spcPct val="100000"/>
              </a:lnSpc>
              <a:spcBef>
                <a:spcPts val="0"/>
              </a:spcBef>
              <a:spcAft>
                <a:spcPts val="0"/>
              </a:spcAft>
              <a:buClr>
                <a:schemeClr val="dk1"/>
              </a:buClr>
              <a:buSzPts val="900"/>
              <a:buFont typeface="Montserrat"/>
              <a:buChar char="●"/>
            </a:pPr>
            <a:r>
              <a:rPr lang="en-GB" sz="900">
                <a:solidFill>
                  <a:schemeClr val="dk1"/>
                </a:solidFill>
                <a:latin typeface="Montserrat"/>
                <a:ea typeface="Montserrat"/>
                <a:cs typeface="Montserrat"/>
                <a:sym typeface="Montserrat"/>
              </a:rPr>
              <a:t>Un modèle opérationnel pour l'IA Lab</a:t>
            </a:r>
            <a:endParaRPr sz="900">
              <a:solidFill>
                <a:schemeClr val="dk1"/>
              </a:solidFill>
              <a:latin typeface="Montserrat"/>
              <a:ea typeface="Montserrat"/>
              <a:cs typeface="Montserrat"/>
              <a:sym typeface="Montserrat"/>
            </a:endParaRPr>
          </a:p>
          <a:p>
            <a:pPr indent="-143551" lvl="0" marL="172800" marR="0" rtl="0" algn="just">
              <a:lnSpc>
                <a:spcPct val="100000"/>
              </a:lnSpc>
              <a:spcBef>
                <a:spcPts val="0"/>
              </a:spcBef>
              <a:spcAft>
                <a:spcPts val="0"/>
              </a:spcAft>
              <a:buClr>
                <a:schemeClr val="dk1"/>
              </a:buClr>
              <a:buSzPts val="900"/>
              <a:buFont typeface="Montserrat"/>
              <a:buChar char="●"/>
            </a:pPr>
            <a:r>
              <a:rPr lang="en-GB" sz="900">
                <a:solidFill>
                  <a:schemeClr val="dk1"/>
                </a:solidFill>
                <a:latin typeface="Montserrat"/>
                <a:ea typeface="Montserrat"/>
                <a:cs typeface="Montserrat"/>
                <a:sym typeface="Montserrat"/>
              </a:rPr>
              <a:t>Un résultat remarquable, avec un classement </a:t>
            </a:r>
            <a:r>
              <a:rPr b="1" lang="en-GB" sz="900">
                <a:solidFill>
                  <a:schemeClr val="dk1"/>
                </a:solidFill>
                <a:latin typeface="Montserrat"/>
                <a:ea typeface="Montserrat"/>
                <a:cs typeface="Montserrat"/>
                <a:sym typeface="Montserrat"/>
              </a:rPr>
              <a:t>top 10 dans le National AI Index (NAII)</a:t>
            </a:r>
            <a:r>
              <a:rPr lang="en-GB" sz="900">
                <a:solidFill>
                  <a:schemeClr val="dk1"/>
                </a:solidFill>
                <a:latin typeface="Montserrat"/>
                <a:ea typeface="Montserrat"/>
                <a:cs typeface="Montserrat"/>
                <a:sym typeface="Montserrat"/>
              </a:rPr>
              <a:t> </a:t>
            </a:r>
            <a:endParaRPr sz="900">
              <a:solidFill>
                <a:schemeClr val="dk1"/>
              </a:solidFill>
              <a:latin typeface="Montserrat"/>
              <a:ea typeface="Montserrat"/>
              <a:cs typeface="Montserrat"/>
              <a:sym typeface="Montserrat"/>
            </a:endParaRPr>
          </a:p>
        </p:txBody>
      </p:sp>
      <p:sp>
        <p:nvSpPr>
          <p:cNvPr id="108" name="Google Shape;108;p15"/>
          <p:cNvSpPr txBox="1"/>
          <p:nvPr/>
        </p:nvSpPr>
        <p:spPr>
          <a:xfrm>
            <a:off x="1653950" y="4075650"/>
            <a:ext cx="965100" cy="32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lang="en-GB" sz="1100">
                <a:latin typeface="Montserrat"/>
                <a:ea typeface="Montserrat"/>
                <a:cs typeface="Montserrat"/>
                <a:sym typeface="Montserrat"/>
              </a:rPr>
              <a:t>Secteur public</a:t>
            </a:r>
            <a:endParaRPr b="1" i="0" sz="1100" u="none" cap="none" strike="noStrike">
              <a:solidFill>
                <a:srgbClr val="000000"/>
              </a:solidFill>
              <a:latin typeface="Montserrat"/>
              <a:ea typeface="Montserrat"/>
              <a:cs typeface="Montserrat"/>
              <a:sym typeface="Montserrat"/>
            </a:endParaRPr>
          </a:p>
        </p:txBody>
      </p:sp>
      <p:pic>
        <p:nvPicPr>
          <p:cNvPr id="109" name="Google Shape;109;p15"/>
          <p:cNvPicPr preferRelativeResize="0"/>
          <p:nvPr/>
        </p:nvPicPr>
        <p:blipFill rotWithShape="1">
          <a:blip r:embed="rId3">
            <a:alphaModFix/>
          </a:blip>
          <a:srcRect b="15782" l="0" r="0" t="0"/>
          <a:stretch/>
        </p:blipFill>
        <p:spPr>
          <a:xfrm>
            <a:off x="1325192" y="4075689"/>
            <a:ext cx="383889" cy="323319"/>
          </a:xfrm>
          <a:prstGeom prst="rect">
            <a:avLst/>
          </a:prstGeom>
          <a:noFill/>
          <a:ln>
            <a:noFill/>
          </a:ln>
        </p:spPr>
      </p:pic>
      <p:grpSp>
        <p:nvGrpSpPr>
          <p:cNvPr id="110" name="Google Shape;110;p15"/>
          <p:cNvGrpSpPr/>
          <p:nvPr/>
        </p:nvGrpSpPr>
        <p:grpSpPr>
          <a:xfrm>
            <a:off x="770461" y="4537214"/>
            <a:ext cx="1595065" cy="363248"/>
            <a:chOff x="733185" y="4537214"/>
            <a:chExt cx="1595065" cy="363248"/>
          </a:xfrm>
        </p:grpSpPr>
        <p:grpSp>
          <p:nvGrpSpPr>
            <p:cNvPr id="111" name="Google Shape;111;p15"/>
            <p:cNvGrpSpPr/>
            <p:nvPr/>
          </p:nvGrpSpPr>
          <p:grpSpPr>
            <a:xfrm>
              <a:off x="733185" y="4537214"/>
              <a:ext cx="386073" cy="363248"/>
              <a:chOff x="311150" y="1147763"/>
              <a:chExt cx="669800" cy="671562"/>
            </a:xfrm>
          </p:grpSpPr>
          <p:sp>
            <p:nvSpPr>
              <p:cNvPr id="112" name="Google Shape;112;p15"/>
              <p:cNvSpPr/>
              <p:nvPr/>
            </p:nvSpPr>
            <p:spPr>
              <a:xfrm>
                <a:off x="311150" y="1350963"/>
                <a:ext cx="324000" cy="468300"/>
              </a:xfrm>
              <a:custGeom>
                <a:rect b="b" l="l" r="r" t="t"/>
                <a:pathLst>
                  <a:path extrusionOk="0" h="120000" w="120000">
                    <a:moveTo>
                      <a:pt x="119999" y="120000"/>
                    </a:moveTo>
                    <a:cubicBezTo>
                      <a:pt x="53684" y="118536"/>
                      <a:pt x="0" y="80487"/>
                      <a:pt x="0" y="33658"/>
                    </a:cubicBezTo>
                    <a:cubicBezTo>
                      <a:pt x="0" y="21951"/>
                      <a:pt x="4210" y="10243"/>
                      <a:pt x="10526" y="0"/>
                    </a:cubicBezTo>
                    <a:cubicBezTo>
                      <a:pt x="35789" y="6585"/>
                      <a:pt x="35789" y="6585"/>
                      <a:pt x="35789" y="6585"/>
                    </a:cubicBezTo>
                    <a:cubicBezTo>
                      <a:pt x="30526" y="14634"/>
                      <a:pt x="27368" y="24146"/>
                      <a:pt x="27368" y="33658"/>
                    </a:cubicBezTo>
                    <a:cubicBezTo>
                      <a:pt x="27368" y="70243"/>
                      <a:pt x="68421" y="99512"/>
                      <a:pt x="119999" y="100975"/>
                    </a:cubicBezTo>
                    <a:lnTo>
                      <a:pt x="119999" y="12000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sp>
            <p:nvSpPr>
              <p:cNvPr id="113" name="Google Shape;113;p15"/>
              <p:cNvSpPr/>
              <p:nvPr/>
            </p:nvSpPr>
            <p:spPr>
              <a:xfrm>
                <a:off x="641350" y="1147763"/>
                <a:ext cx="339600" cy="436500"/>
              </a:xfrm>
              <a:custGeom>
                <a:rect b="b" l="l" r="r" t="t"/>
                <a:pathLst>
                  <a:path extrusionOk="0" h="120000" w="120000">
                    <a:moveTo>
                      <a:pt x="1008" y="0"/>
                    </a:moveTo>
                    <a:cubicBezTo>
                      <a:pt x="66554" y="0"/>
                      <a:pt x="120000" y="41568"/>
                      <a:pt x="120000" y="91764"/>
                    </a:cubicBezTo>
                    <a:cubicBezTo>
                      <a:pt x="120000" y="101960"/>
                      <a:pt x="117983" y="111372"/>
                      <a:pt x="113949" y="120000"/>
                    </a:cubicBezTo>
                    <a:cubicBezTo>
                      <a:pt x="113949" y="120000"/>
                      <a:pt x="113949" y="120000"/>
                      <a:pt x="113949" y="120000"/>
                    </a:cubicBezTo>
                    <a:cubicBezTo>
                      <a:pt x="89747" y="112941"/>
                      <a:pt x="89747" y="112941"/>
                      <a:pt x="89747" y="112941"/>
                    </a:cubicBezTo>
                    <a:cubicBezTo>
                      <a:pt x="89747" y="112941"/>
                      <a:pt x="89747" y="112941"/>
                      <a:pt x="89747" y="112941"/>
                    </a:cubicBezTo>
                    <a:cubicBezTo>
                      <a:pt x="91764" y="106666"/>
                      <a:pt x="93781" y="99607"/>
                      <a:pt x="93781" y="91764"/>
                    </a:cubicBezTo>
                    <a:cubicBezTo>
                      <a:pt x="93781" y="52549"/>
                      <a:pt x="52436" y="20392"/>
                      <a:pt x="1008" y="20392"/>
                    </a:cubicBezTo>
                    <a:cubicBezTo>
                      <a:pt x="1008" y="20392"/>
                      <a:pt x="1008" y="20392"/>
                      <a:pt x="0" y="20392"/>
                    </a:cubicBezTo>
                    <a:cubicBezTo>
                      <a:pt x="0" y="20392"/>
                      <a:pt x="0" y="20392"/>
                      <a:pt x="0" y="20392"/>
                    </a:cubicBezTo>
                    <a:cubicBezTo>
                      <a:pt x="1008" y="0"/>
                      <a:pt x="1008" y="0"/>
                      <a:pt x="1008" y="0"/>
                    </a:cubicBezTo>
                    <a:cubicBezTo>
                      <a:pt x="1008" y="0"/>
                      <a:pt x="1008" y="0"/>
                      <a:pt x="1008" y="0"/>
                    </a:cubicBezTo>
                    <a:cubicBezTo>
                      <a:pt x="1008" y="0"/>
                      <a:pt x="1008" y="0"/>
                      <a:pt x="1008" y="0"/>
                    </a:cubicBez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sp>
            <p:nvSpPr>
              <p:cNvPr id="114" name="Google Shape;114;p15"/>
              <p:cNvSpPr/>
              <p:nvPr/>
            </p:nvSpPr>
            <p:spPr>
              <a:xfrm>
                <a:off x="601663" y="1439863"/>
                <a:ext cx="85800" cy="87300"/>
              </a:xfrm>
              <a:prstGeom prst="ellipse">
                <a:avLst/>
              </a:pr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sp>
            <p:nvSpPr>
              <p:cNvPr id="115" name="Google Shape;115;p15"/>
              <p:cNvSpPr/>
              <p:nvPr/>
            </p:nvSpPr>
            <p:spPr>
              <a:xfrm>
                <a:off x="635000" y="1558925"/>
                <a:ext cx="328500" cy="260400"/>
              </a:xfrm>
              <a:custGeom>
                <a:rect b="b" l="l" r="r" t="t"/>
                <a:pathLst>
                  <a:path extrusionOk="0" h="120000" w="120000">
                    <a:moveTo>
                      <a:pt x="120000" y="11868"/>
                    </a:moveTo>
                    <a:cubicBezTo>
                      <a:pt x="104347" y="75164"/>
                      <a:pt x="58434" y="120000"/>
                      <a:pt x="3130" y="120000"/>
                    </a:cubicBezTo>
                    <a:cubicBezTo>
                      <a:pt x="2086" y="120000"/>
                      <a:pt x="1043" y="120000"/>
                      <a:pt x="0" y="120000"/>
                    </a:cubicBezTo>
                    <a:cubicBezTo>
                      <a:pt x="0" y="120000"/>
                      <a:pt x="0" y="120000"/>
                      <a:pt x="0" y="120000"/>
                    </a:cubicBezTo>
                    <a:cubicBezTo>
                      <a:pt x="0" y="85714"/>
                      <a:pt x="0" y="85714"/>
                      <a:pt x="0" y="85714"/>
                    </a:cubicBezTo>
                    <a:cubicBezTo>
                      <a:pt x="0" y="85714"/>
                      <a:pt x="0" y="85714"/>
                      <a:pt x="0" y="85714"/>
                    </a:cubicBezTo>
                    <a:cubicBezTo>
                      <a:pt x="1043" y="85714"/>
                      <a:pt x="2086" y="85714"/>
                      <a:pt x="3130" y="85714"/>
                    </a:cubicBezTo>
                    <a:cubicBezTo>
                      <a:pt x="46956" y="85714"/>
                      <a:pt x="82434" y="50109"/>
                      <a:pt x="94956" y="0"/>
                    </a:cubicBezTo>
                    <a:lnTo>
                      <a:pt x="120000" y="11868"/>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sp>
            <p:nvSpPr>
              <p:cNvPr id="116" name="Google Shape;116;p15"/>
              <p:cNvSpPr/>
              <p:nvPr/>
            </p:nvSpPr>
            <p:spPr>
              <a:xfrm>
                <a:off x="339725" y="1147763"/>
                <a:ext cx="304800" cy="228600"/>
              </a:xfrm>
              <a:custGeom>
                <a:rect b="b" l="l" r="r" t="t"/>
                <a:pathLst>
                  <a:path extrusionOk="0" h="120000" w="120000">
                    <a:moveTo>
                      <a:pt x="118878" y="39000"/>
                    </a:moveTo>
                    <a:cubicBezTo>
                      <a:pt x="78504" y="39000"/>
                      <a:pt x="42616" y="72000"/>
                      <a:pt x="26915" y="120000"/>
                    </a:cubicBezTo>
                    <a:cubicBezTo>
                      <a:pt x="26915" y="120000"/>
                      <a:pt x="26915" y="120000"/>
                      <a:pt x="26915" y="120000"/>
                    </a:cubicBezTo>
                    <a:cubicBezTo>
                      <a:pt x="0" y="106500"/>
                      <a:pt x="0" y="106500"/>
                      <a:pt x="0" y="106500"/>
                    </a:cubicBezTo>
                    <a:cubicBezTo>
                      <a:pt x="0" y="106500"/>
                      <a:pt x="0" y="106500"/>
                      <a:pt x="0" y="106500"/>
                    </a:cubicBezTo>
                    <a:cubicBezTo>
                      <a:pt x="20186" y="43500"/>
                      <a:pt x="66168" y="1500"/>
                      <a:pt x="120000" y="0"/>
                    </a:cubicBezTo>
                    <a:lnTo>
                      <a:pt x="118878" y="3900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sp>
            <p:nvSpPr>
              <p:cNvPr id="117" name="Google Shape;117;p15"/>
              <p:cNvSpPr/>
              <p:nvPr/>
            </p:nvSpPr>
            <p:spPr>
              <a:xfrm>
                <a:off x="647700" y="1241425"/>
                <a:ext cx="58800" cy="206400"/>
              </a:xfrm>
              <a:custGeom>
                <a:rect b="b" l="l" r="r" t="t"/>
                <a:pathLst>
                  <a:path extrusionOk="0" h="120000" w="120000">
                    <a:moveTo>
                      <a:pt x="120000" y="0"/>
                    </a:moveTo>
                    <a:cubicBezTo>
                      <a:pt x="120000" y="40000"/>
                      <a:pt x="120000" y="40000"/>
                      <a:pt x="120000" y="40000"/>
                    </a:cubicBezTo>
                    <a:cubicBezTo>
                      <a:pt x="114285" y="80000"/>
                      <a:pt x="114285" y="80000"/>
                      <a:pt x="114285" y="80000"/>
                    </a:cubicBezTo>
                    <a:cubicBezTo>
                      <a:pt x="57142" y="115000"/>
                      <a:pt x="57142" y="115000"/>
                      <a:pt x="57142" y="115000"/>
                    </a:cubicBezTo>
                    <a:cubicBezTo>
                      <a:pt x="45714" y="120000"/>
                      <a:pt x="45714" y="120000"/>
                      <a:pt x="45714" y="120000"/>
                    </a:cubicBezTo>
                    <a:cubicBezTo>
                      <a:pt x="34285" y="118333"/>
                      <a:pt x="17142" y="116666"/>
                      <a:pt x="0" y="115000"/>
                    </a:cubicBezTo>
                    <a:cubicBezTo>
                      <a:pt x="0" y="111666"/>
                      <a:pt x="0" y="111666"/>
                      <a:pt x="0" y="111666"/>
                    </a:cubicBezTo>
                    <a:cubicBezTo>
                      <a:pt x="5714" y="71666"/>
                      <a:pt x="5714" y="71666"/>
                      <a:pt x="5714" y="71666"/>
                    </a:cubicBezTo>
                    <a:cubicBezTo>
                      <a:pt x="62857" y="35000"/>
                      <a:pt x="62857" y="35000"/>
                      <a:pt x="62857" y="35000"/>
                    </a:cubicBezTo>
                    <a:lnTo>
                      <a:pt x="120000"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sp>
            <p:nvSpPr>
              <p:cNvPr id="118" name="Google Shape;118;p15"/>
              <p:cNvSpPr/>
              <p:nvPr/>
            </p:nvSpPr>
            <p:spPr>
              <a:xfrm>
                <a:off x="450850" y="1516063"/>
                <a:ext cx="176100" cy="126900"/>
              </a:xfrm>
              <a:custGeom>
                <a:rect b="b" l="l" r="r" t="t"/>
                <a:pathLst>
                  <a:path extrusionOk="0" h="120000" w="120000">
                    <a:moveTo>
                      <a:pt x="0" y="120000"/>
                    </a:moveTo>
                    <a:cubicBezTo>
                      <a:pt x="29032" y="76363"/>
                      <a:pt x="29032" y="76363"/>
                      <a:pt x="29032" y="76363"/>
                    </a:cubicBezTo>
                    <a:cubicBezTo>
                      <a:pt x="56129" y="35454"/>
                      <a:pt x="56129" y="35454"/>
                      <a:pt x="56129" y="35454"/>
                    </a:cubicBezTo>
                    <a:cubicBezTo>
                      <a:pt x="94838" y="10909"/>
                      <a:pt x="94838" y="10909"/>
                      <a:pt x="94838" y="10909"/>
                    </a:cubicBezTo>
                    <a:cubicBezTo>
                      <a:pt x="112258" y="0"/>
                      <a:pt x="112258" y="0"/>
                      <a:pt x="112258" y="0"/>
                    </a:cubicBezTo>
                    <a:cubicBezTo>
                      <a:pt x="114193" y="2727"/>
                      <a:pt x="118064" y="2727"/>
                      <a:pt x="120000" y="5454"/>
                    </a:cubicBezTo>
                    <a:cubicBezTo>
                      <a:pt x="104516" y="30000"/>
                      <a:pt x="104516" y="30000"/>
                      <a:pt x="104516" y="30000"/>
                    </a:cubicBezTo>
                    <a:cubicBezTo>
                      <a:pt x="77419" y="73636"/>
                      <a:pt x="77419" y="73636"/>
                      <a:pt x="77419" y="73636"/>
                    </a:cubicBezTo>
                    <a:cubicBezTo>
                      <a:pt x="38709" y="95454"/>
                      <a:pt x="38709" y="95454"/>
                      <a:pt x="38709" y="95454"/>
                    </a:cubicBezTo>
                    <a:lnTo>
                      <a:pt x="0" y="12000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grpSp>
        <p:sp>
          <p:nvSpPr>
            <p:cNvPr id="119" name="Google Shape;119;p15"/>
            <p:cNvSpPr txBox="1"/>
            <p:nvPr/>
          </p:nvSpPr>
          <p:spPr>
            <a:xfrm>
              <a:off x="1119250" y="4561750"/>
              <a:ext cx="12090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Montserrat"/>
                  <a:ea typeface="Montserrat"/>
                  <a:cs typeface="Montserrat"/>
                  <a:sym typeface="Montserrat"/>
                </a:rPr>
                <a:t>202</a:t>
              </a:r>
              <a:r>
                <a:rPr lang="en-GB" sz="1000">
                  <a:latin typeface="Montserrat"/>
                  <a:ea typeface="Montserrat"/>
                  <a:cs typeface="Montserrat"/>
                  <a:sym typeface="Montserrat"/>
                </a:rPr>
                <a:t>5</a:t>
              </a:r>
              <a:r>
                <a:rPr b="0" i="0" lang="en-GB" sz="1000" u="none" cap="none" strike="noStrike">
                  <a:solidFill>
                    <a:srgbClr val="000000"/>
                  </a:solidFill>
                  <a:latin typeface="Montserrat"/>
                  <a:ea typeface="Montserrat"/>
                  <a:cs typeface="Montserrat"/>
                  <a:sym typeface="Montserrat"/>
                </a:rPr>
                <a:t> / 2026</a:t>
              </a:r>
              <a:endParaRPr b="0" i="0" sz="1000" u="none" cap="none" strike="noStrike">
                <a:solidFill>
                  <a:srgbClr val="000000"/>
                </a:solidFill>
                <a:latin typeface="Montserrat"/>
                <a:ea typeface="Montserrat"/>
                <a:cs typeface="Montserrat"/>
                <a:sym typeface="Montserrat"/>
              </a:endParaRPr>
            </a:p>
          </p:txBody>
        </p:sp>
      </p:grpSp>
      <p:pic>
        <p:nvPicPr>
          <p:cNvPr id="120" name="Google Shape;120;p15"/>
          <p:cNvPicPr preferRelativeResize="0"/>
          <p:nvPr/>
        </p:nvPicPr>
        <p:blipFill rotWithShape="1">
          <a:blip r:embed="rId4">
            <a:alphaModFix/>
          </a:blip>
          <a:srcRect b="0" l="0" r="0" t="0"/>
          <a:stretch/>
        </p:blipFill>
        <p:spPr>
          <a:xfrm>
            <a:off x="105996" y="4776975"/>
            <a:ext cx="229582" cy="229800"/>
          </a:xfrm>
          <a:prstGeom prst="rect">
            <a:avLst/>
          </a:prstGeom>
          <a:noFill/>
          <a:ln>
            <a:noFill/>
          </a:ln>
        </p:spPr>
      </p:pic>
      <p:pic>
        <p:nvPicPr>
          <p:cNvPr id="121" name="Google Shape;121;p15" title="images.jpg"/>
          <p:cNvPicPr preferRelativeResize="0"/>
          <p:nvPr/>
        </p:nvPicPr>
        <p:blipFill>
          <a:blip r:embed="rId5">
            <a:alphaModFix/>
          </a:blip>
          <a:stretch>
            <a:fillRect/>
          </a:stretch>
        </p:blipFill>
        <p:spPr>
          <a:xfrm>
            <a:off x="635000" y="3920100"/>
            <a:ext cx="634500" cy="634500"/>
          </a:xfrm>
          <a:prstGeom prst="rect">
            <a:avLst/>
          </a:prstGeom>
          <a:noFill/>
          <a:ln>
            <a:noFill/>
          </a:ln>
        </p:spPr>
      </p:pic>
      <p:pic>
        <p:nvPicPr>
          <p:cNvPr id="122" name="Google Shape;122;p15"/>
          <p:cNvPicPr preferRelativeResize="0"/>
          <p:nvPr/>
        </p:nvPicPr>
        <p:blipFill rotWithShape="1">
          <a:blip r:embed="rId6">
            <a:alphaModFix/>
          </a:blip>
          <a:srcRect b="-3434" l="5922" r="22120" t="0"/>
          <a:stretch/>
        </p:blipFill>
        <p:spPr>
          <a:xfrm flipH="1">
            <a:off x="244703" y="6425"/>
            <a:ext cx="2686500" cy="2164200"/>
          </a:xfrm>
          <a:prstGeom prst="round2SameRect">
            <a:avLst>
              <a:gd fmla="val 0" name="adj1"/>
              <a:gd fmla="val 50000" name="adj2"/>
            </a:avLst>
          </a:prstGeom>
          <a:noFill/>
          <a:ln>
            <a:noFill/>
          </a:ln>
        </p:spPr>
      </p:pic>
      <p:pic>
        <p:nvPicPr>
          <p:cNvPr id="123" name="Google Shape;123;p15"/>
          <p:cNvPicPr preferRelativeResize="0"/>
          <p:nvPr/>
        </p:nvPicPr>
        <p:blipFill>
          <a:blip r:embed="rId7">
            <a:alphaModFix/>
          </a:blip>
          <a:stretch>
            <a:fillRect/>
          </a:stretch>
        </p:blipFill>
        <p:spPr>
          <a:xfrm>
            <a:off x="827614" y="2245597"/>
            <a:ext cx="1379040" cy="423833"/>
          </a:xfrm>
          <a:prstGeom prst="rect">
            <a:avLst/>
          </a:prstGeom>
          <a:noFill/>
          <a:ln>
            <a:noFill/>
          </a:ln>
        </p:spPr>
      </p:pic>
      <p:sp>
        <p:nvSpPr>
          <p:cNvPr id="124" name="Google Shape;124;p15"/>
          <p:cNvSpPr txBox="1"/>
          <p:nvPr/>
        </p:nvSpPr>
        <p:spPr>
          <a:xfrm>
            <a:off x="8394208" y="4617617"/>
            <a:ext cx="5487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GB" sz="1000">
                <a:solidFill>
                  <a:srgbClr val="595959"/>
                </a:solidFill>
                <a:latin typeface="Montserrat"/>
                <a:ea typeface="Montserrat"/>
                <a:cs typeface="Montserrat"/>
                <a:sym typeface="Montserrat"/>
              </a:rPr>
              <a:t>‹#›</a:t>
            </a:fld>
            <a:endParaRPr b="1" sz="1000">
              <a:solidFill>
                <a:srgbClr val="595959"/>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6"/>
          <p:cNvSpPr txBox="1"/>
          <p:nvPr>
            <p:ph idx="4294967295" type="subTitle"/>
          </p:nvPr>
        </p:nvSpPr>
        <p:spPr>
          <a:xfrm>
            <a:off x="220244" y="2938093"/>
            <a:ext cx="2466000" cy="10434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lang="en-GB" sz="1200">
                <a:solidFill>
                  <a:schemeClr val="dk1"/>
                </a:solidFill>
                <a:latin typeface="Montserrat"/>
                <a:ea typeface="Montserrat"/>
                <a:cs typeface="Montserrat"/>
                <a:sym typeface="Montserrat"/>
              </a:rPr>
              <a:t>Contrôle intelligent de la nappe phréatique - Détection des fraudes + Agent Analytique</a:t>
            </a:r>
            <a:endParaRPr sz="1200">
              <a:solidFill>
                <a:schemeClr val="dk1"/>
              </a:solidFill>
              <a:latin typeface="Montserrat"/>
              <a:ea typeface="Montserrat"/>
              <a:cs typeface="Montserrat"/>
              <a:sym typeface="Montserrat"/>
            </a:endParaRPr>
          </a:p>
          <a:p>
            <a:pPr indent="0" lvl="0" marL="0" marR="0" rtl="0" algn="ctr">
              <a:lnSpc>
                <a:spcPct val="115000"/>
              </a:lnSpc>
              <a:spcBef>
                <a:spcPts val="0"/>
              </a:spcBef>
              <a:spcAft>
                <a:spcPts val="0"/>
              </a:spcAft>
              <a:buClr>
                <a:srgbClr val="000000"/>
              </a:buClr>
              <a:buSzPts val="1200"/>
              <a:buFont typeface="Arial"/>
              <a:buNone/>
            </a:pPr>
            <a:r>
              <a:rPr lang="en-GB" sz="1200">
                <a:solidFill>
                  <a:schemeClr val="dk1"/>
                </a:solidFill>
                <a:latin typeface="Montserrat"/>
                <a:ea typeface="Montserrat"/>
                <a:cs typeface="Montserrat"/>
                <a:sym typeface="Montserrat"/>
              </a:rPr>
              <a:t> </a:t>
            </a:r>
            <a:r>
              <a:rPr b="1" lang="en-GB" sz="1200">
                <a:solidFill>
                  <a:srgbClr val="EF4A60"/>
                </a:solidFill>
                <a:latin typeface="Montserrat"/>
                <a:ea typeface="Montserrat"/>
                <a:cs typeface="Montserrat"/>
                <a:sym typeface="Montserrat"/>
              </a:rPr>
              <a:t>(1er prix DGA)</a:t>
            </a:r>
            <a:endParaRPr sz="1200">
              <a:solidFill>
                <a:schemeClr val="dk1"/>
              </a:solidFill>
              <a:latin typeface="Montserrat"/>
              <a:ea typeface="Montserrat"/>
              <a:cs typeface="Montserrat"/>
              <a:sym typeface="Montserrat"/>
            </a:endParaRPr>
          </a:p>
        </p:txBody>
      </p:sp>
      <p:sp>
        <p:nvSpPr>
          <p:cNvPr id="130" name="Google Shape;130;p16"/>
          <p:cNvSpPr txBox="1"/>
          <p:nvPr>
            <p:ph idx="4294967295" type="body"/>
          </p:nvPr>
        </p:nvSpPr>
        <p:spPr>
          <a:xfrm>
            <a:off x="3458175" y="2268753"/>
            <a:ext cx="5464200" cy="104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EB475E"/>
                </a:solidFill>
                <a:latin typeface="Montserrat"/>
                <a:ea typeface="Montserrat"/>
                <a:cs typeface="Montserrat"/>
                <a:sym typeface="Montserrat"/>
              </a:rPr>
              <a:t>Réalisations </a:t>
            </a:r>
            <a:endParaRPr b="0" i="0" sz="900" u="none" cap="none" strike="noStrike">
              <a:solidFill>
                <a:srgbClr val="EB475E"/>
              </a:solidFill>
              <a:latin typeface="Montserrat"/>
              <a:ea typeface="Montserrat"/>
              <a:cs typeface="Montserrat"/>
              <a:sym typeface="Montserrat"/>
            </a:endParaRPr>
          </a:p>
          <a:p>
            <a:pPr indent="-152400" lvl="0" marL="180000" marR="0" rtl="0" algn="just">
              <a:lnSpc>
                <a:spcPct val="105000"/>
              </a:lnSpc>
              <a:spcBef>
                <a:spcPts val="0"/>
              </a:spcBef>
              <a:spcAft>
                <a:spcPts val="0"/>
              </a:spcAft>
              <a:buClr>
                <a:schemeClr val="dk1"/>
              </a:buClr>
              <a:buSzPts val="900"/>
              <a:buFont typeface="Montserrat"/>
              <a:buChar char="●"/>
            </a:pPr>
            <a:r>
              <a:rPr lang="en-GB" sz="900">
                <a:solidFill>
                  <a:schemeClr val="dk1"/>
                </a:solidFill>
                <a:latin typeface="Montserrat"/>
                <a:ea typeface="Montserrat"/>
                <a:cs typeface="Montserrat"/>
                <a:sym typeface="Montserrat"/>
              </a:rPr>
              <a:t>Système précoce de lutte contre la fraude, basé sur deux axes principaux :</a:t>
            </a:r>
            <a:endParaRPr sz="900">
              <a:solidFill>
                <a:schemeClr val="dk1"/>
              </a:solidFill>
              <a:latin typeface="Montserrat"/>
              <a:ea typeface="Montserrat"/>
              <a:cs typeface="Montserrat"/>
              <a:sym typeface="Montserrat"/>
            </a:endParaRPr>
          </a:p>
          <a:p>
            <a:pPr indent="-285750" lvl="1" marL="914400" marR="0" rtl="0" algn="just">
              <a:lnSpc>
                <a:spcPct val="105000"/>
              </a:lnSpc>
              <a:spcBef>
                <a:spcPts val="0"/>
              </a:spcBef>
              <a:spcAft>
                <a:spcPts val="0"/>
              </a:spcAft>
              <a:buClr>
                <a:schemeClr val="dk1"/>
              </a:buClr>
              <a:buSzPts val="900"/>
              <a:buFont typeface="Montserrat"/>
              <a:buChar char="○"/>
            </a:pPr>
            <a:r>
              <a:rPr lang="en-GB" sz="900">
                <a:solidFill>
                  <a:schemeClr val="dk1"/>
                </a:solidFill>
                <a:latin typeface="Montserrat"/>
                <a:ea typeface="Montserrat"/>
                <a:cs typeface="Montserrat"/>
                <a:sym typeface="Montserrat"/>
              </a:rPr>
              <a:t>Analyses comportementales et détection des anomalies via l'IA dans les déplacements des engins de forage.</a:t>
            </a:r>
            <a:endParaRPr sz="900">
              <a:solidFill>
                <a:schemeClr val="dk1"/>
              </a:solidFill>
              <a:latin typeface="Montserrat"/>
              <a:ea typeface="Montserrat"/>
              <a:cs typeface="Montserrat"/>
              <a:sym typeface="Montserrat"/>
            </a:endParaRPr>
          </a:p>
          <a:p>
            <a:pPr indent="-285750" lvl="1" marL="914400" marR="0" rtl="0" algn="just">
              <a:lnSpc>
                <a:spcPct val="105000"/>
              </a:lnSpc>
              <a:spcBef>
                <a:spcPts val="0"/>
              </a:spcBef>
              <a:spcAft>
                <a:spcPts val="0"/>
              </a:spcAft>
              <a:buClr>
                <a:schemeClr val="dk1"/>
              </a:buClr>
              <a:buSzPts val="900"/>
              <a:buFont typeface="Montserrat"/>
              <a:buChar char="○"/>
            </a:pPr>
            <a:r>
              <a:rPr lang="en-GB" sz="900">
                <a:solidFill>
                  <a:schemeClr val="dk1"/>
                </a:solidFill>
                <a:latin typeface="Montserrat"/>
                <a:ea typeface="Montserrat"/>
                <a:cs typeface="Montserrat"/>
                <a:sym typeface="Montserrat"/>
              </a:rPr>
              <a:t>Analyse intelligente de la consommation des puits, corrélée avec la production agricole et la superficie exploitée.</a:t>
            </a:r>
            <a:endParaRPr sz="900">
              <a:solidFill>
                <a:schemeClr val="dk1"/>
              </a:solidFill>
              <a:latin typeface="Montserrat"/>
              <a:ea typeface="Montserrat"/>
              <a:cs typeface="Montserrat"/>
              <a:sym typeface="Montserrat"/>
            </a:endParaRPr>
          </a:p>
          <a:p>
            <a:pPr indent="-152400" lvl="0" marL="180000" marR="0" rtl="0" algn="just">
              <a:lnSpc>
                <a:spcPct val="105000"/>
              </a:lnSpc>
              <a:spcBef>
                <a:spcPts val="0"/>
              </a:spcBef>
              <a:spcAft>
                <a:spcPts val="0"/>
              </a:spcAft>
              <a:buClr>
                <a:schemeClr val="dk1"/>
              </a:buClr>
              <a:buSzPts val="900"/>
              <a:buFont typeface="Montserrat"/>
              <a:buChar char="●"/>
            </a:pPr>
            <a:r>
              <a:rPr lang="en-GB" sz="900">
                <a:solidFill>
                  <a:schemeClr val="dk1"/>
                </a:solidFill>
                <a:latin typeface="Montserrat"/>
                <a:ea typeface="Montserrat"/>
                <a:cs typeface="Montserrat"/>
                <a:sym typeface="Montserrat"/>
              </a:rPr>
              <a:t>Un chatbot analytique capable de répondre aux questions en langage naturel et de faciliter le travail de l'auditeur.</a:t>
            </a:r>
            <a:endParaRPr sz="900">
              <a:solidFill>
                <a:schemeClr val="dk1"/>
              </a:solidFill>
              <a:latin typeface="Montserrat"/>
              <a:ea typeface="Montserrat"/>
              <a:cs typeface="Montserrat"/>
              <a:sym typeface="Montserrat"/>
            </a:endParaRPr>
          </a:p>
          <a:p>
            <a:pPr indent="0" lvl="0" marL="0" marR="0" rtl="0" algn="l">
              <a:lnSpc>
                <a:spcPct val="105000"/>
              </a:lnSpc>
              <a:spcBef>
                <a:spcPts val="0"/>
              </a:spcBef>
              <a:spcAft>
                <a:spcPts val="0"/>
              </a:spcAft>
              <a:buClr>
                <a:srgbClr val="000000"/>
              </a:buClr>
              <a:buSzPts val="900"/>
              <a:buFont typeface="Arial"/>
              <a:buNone/>
            </a:pPr>
            <a:r>
              <a:t/>
            </a:r>
            <a:endParaRPr b="0" i="0" sz="900" u="none" cap="none" strike="noStrike">
              <a:solidFill>
                <a:schemeClr val="dk1"/>
              </a:solidFill>
              <a:latin typeface="Montserrat"/>
              <a:ea typeface="Montserrat"/>
              <a:cs typeface="Montserrat"/>
              <a:sym typeface="Montserrat"/>
            </a:endParaRPr>
          </a:p>
        </p:txBody>
      </p:sp>
      <p:sp>
        <p:nvSpPr>
          <p:cNvPr id="131" name="Google Shape;131;p16"/>
          <p:cNvSpPr txBox="1"/>
          <p:nvPr>
            <p:ph idx="4294967295" type="body"/>
          </p:nvPr>
        </p:nvSpPr>
        <p:spPr>
          <a:xfrm>
            <a:off x="3458175" y="747234"/>
            <a:ext cx="5585700" cy="792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F8475E"/>
                </a:solidFill>
                <a:latin typeface="Montserrat"/>
                <a:ea typeface="Montserrat"/>
                <a:cs typeface="Montserrat"/>
                <a:sym typeface="Montserrat"/>
              </a:rPr>
              <a:t>Challenges </a:t>
            </a:r>
            <a:endParaRPr sz="900">
              <a:solidFill>
                <a:schemeClr val="dk1"/>
              </a:solidFill>
              <a:latin typeface="Montserrat"/>
              <a:ea typeface="Montserrat"/>
              <a:cs typeface="Montserrat"/>
              <a:sym typeface="Montserrat"/>
            </a:endParaRPr>
          </a:p>
          <a:p>
            <a:pPr indent="-152400" lvl="0" marL="180000" marR="0" rtl="0" algn="just">
              <a:lnSpc>
                <a:spcPct val="105000"/>
              </a:lnSpc>
              <a:spcBef>
                <a:spcPts val="0"/>
              </a:spcBef>
              <a:spcAft>
                <a:spcPts val="0"/>
              </a:spcAft>
              <a:buClr>
                <a:schemeClr val="dk1"/>
              </a:buClr>
              <a:buSzPts val="900"/>
              <a:buFont typeface="Montserrat"/>
              <a:buChar char="●"/>
            </a:pPr>
            <a:r>
              <a:rPr lang="en-GB" sz="900">
                <a:solidFill>
                  <a:schemeClr val="dk1"/>
                </a:solidFill>
                <a:latin typeface="Montserrat"/>
                <a:ea typeface="Montserrat"/>
                <a:cs typeface="Montserrat"/>
                <a:sym typeface="Montserrat"/>
              </a:rPr>
              <a:t>Le contrôle des engins de forage est actuellement limité à leur localisation GPS et au suivi de leurs déplacements entre les régions.</a:t>
            </a:r>
            <a:endParaRPr sz="900">
              <a:solidFill>
                <a:schemeClr val="dk1"/>
              </a:solidFill>
              <a:latin typeface="Montserrat"/>
              <a:ea typeface="Montserrat"/>
              <a:cs typeface="Montserrat"/>
              <a:sym typeface="Montserrat"/>
            </a:endParaRPr>
          </a:p>
          <a:p>
            <a:pPr indent="-152400" lvl="0" marL="180000" marR="0" rtl="0" algn="just">
              <a:lnSpc>
                <a:spcPct val="105000"/>
              </a:lnSpc>
              <a:spcBef>
                <a:spcPts val="0"/>
              </a:spcBef>
              <a:spcAft>
                <a:spcPts val="0"/>
              </a:spcAft>
              <a:buClr>
                <a:schemeClr val="dk1"/>
              </a:buClr>
              <a:buSzPts val="900"/>
              <a:buFont typeface="Montserrat"/>
              <a:buChar char="●"/>
            </a:pPr>
            <a:r>
              <a:rPr lang="en-GB" sz="900">
                <a:solidFill>
                  <a:schemeClr val="dk1"/>
                </a:solidFill>
                <a:latin typeface="Montserrat"/>
                <a:ea typeface="Montserrat"/>
                <a:cs typeface="Montserrat"/>
                <a:sym typeface="Montserrat"/>
              </a:rPr>
              <a:t>La consommation d'eau à partir des puits est mesurée via un seul indicateur global, qui ne reflète ni le besoin réel en eau d'irrigation, ni l'usage en fonction de la superficie exploitée et de la production agricole.</a:t>
            </a:r>
            <a:endParaRPr sz="900">
              <a:solidFill>
                <a:schemeClr val="dk1"/>
              </a:solidFill>
              <a:latin typeface="Montserrat"/>
              <a:ea typeface="Montserrat"/>
              <a:cs typeface="Montserrat"/>
              <a:sym typeface="Montserrat"/>
            </a:endParaRPr>
          </a:p>
          <a:p>
            <a:pPr indent="-152400" lvl="0" marL="180000" marR="0" rtl="0" algn="just">
              <a:lnSpc>
                <a:spcPct val="105000"/>
              </a:lnSpc>
              <a:spcBef>
                <a:spcPts val="0"/>
              </a:spcBef>
              <a:spcAft>
                <a:spcPts val="0"/>
              </a:spcAft>
              <a:buClr>
                <a:schemeClr val="dk1"/>
              </a:buClr>
              <a:buSzPts val="900"/>
              <a:buFont typeface="Montserrat"/>
              <a:buChar char="●"/>
            </a:pPr>
            <a:r>
              <a:rPr lang="en-GB" sz="900">
                <a:solidFill>
                  <a:schemeClr val="dk1"/>
                </a:solidFill>
                <a:latin typeface="Montserrat"/>
                <a:ea typeface="Montserrat"/>
                <a:cs typeface="Montserrat"/>
                <a:sym typeface="Montserrat"/>
              </a:rPr>
              <a:t>Le ministère a investi dans des équipements de tracking et de géolocalisation des engins de forage, ainsi que dans des capteurs de consommation installés sur les puits. Le volume de données ainsi généré est important, ce qui rend l'analyse — via la localisation et le système SIG (GIS) — difficile à réaliser manuellement.</a:t>
            </a:r>
            <a:endParaRPr sz="900">
              <a:solidFill>
                <a:schemeClr val="dk1"/>
              </a:solidFill>
              <a:latin typeface="Montserrat"/>
              <a:ea typeface="Montserrat"/>
              <a:cs typeface="Montserrat"/>
              <a:sym typeface="Montserrat"/>
            </a:endParaRPr>
          </a:p>
        </p:txBody>
      </p:sp>
      <p:sp>
        <p:nvSpPr>
          <p:cNvPr id="132" name="Google Shape;132;p16"/>
          <p:cNvSpPr txBox="1"/>
          <p:nvPr>
            <p:ph idx="4294967295" type="body"/>
          </p:nvPr>
        </p:nvSpPr>
        <p:spPr>
          <a:xfrm>
            <a:off x="3490475" y="3544719"/>
            <a:ext cx="5464200" cy="962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EB475E"/>
                </a:solidFill>
                <a:latin typeface="Montserrat"/>
                <a:ea typeface="Montserrat"/>
                <a:cs typeface="Montserrat"/>
                <a:sym typeface="Montserrat"/>
              </a:rPr>
              <a:t>Bénéfices</a:t>
            </a:r>
            <a:endParaRPr b="0" i="0" sz="900" u="none" cap="none" strike="noStrike">
              <a:solidFill>
                <a:srgbClr val="EB475E"/>
              </a:solidFill>
              <a:latin typeface="Montserrat"/>
              <a:ea typeface="Montserrat"/>
              <a:cs typeface="Montserrat"/>
              <a:sym typeface="Montserrat"/>
            </a:endParaRPr>
          </a:p>
          <a:p>
            <a:pPr indent="-143551" lvl="0" marL="172800" marR="0" rtl="0" algn="just">
              <a:lnSpc>
                <a:spcPct val="100000"/>
              </a:lnSpc>
              <a:spcBef>
                <a:spcPts val="0"/>
              </a:spcBef>
              <a:spcAft>
                <a:spcPts val="0"/>
              </a:spcAft>
              <a:buClr>
                <a:schemeClr val="dk1"/>
              </a:buClr>
              <a:buSzPts val="900"/>
              <a:buFont typeface="Montserrat"/>
              <a:buChar char="●"/>
            </a:pPr>
            <a:r>
              <a:rPr lang="en-GB" sz="900">
                <a:solidFill>
                  <a:schemeClr val="dk1"/>
                </a:solidFill>
                <a:latin typeface="Montserrat"/>
                <a:ea typeface="Montserrat"/>
                <a:cs typeface="Montserrat"/>
                <a:sym typeface="Montserrat"/>
              </a:rPr>
              <a:t>Gain de performance des auditeurs de 80 %.</a:t>
            </a:r>
            <a:endParaRPr sz="900">
              <a:solidFill>
                <a:schemeClr val="dk1"/>
              </a:solidFill>
              <a:latin typeface="Montserrat"/>
              <a:ea typeface="Montserrat"/>
              <a:cs typeface="Montserrat"/>
              <a:sym typeface="Montserrat"/>
            </a:endParaRPr>
          </a:p>
          <a:p>
            <a:pPr indent="-143551" lvl="0" marL="172800" marR="0" rtl="0" algn="just">
              <a:lnSpc>
                <a:spcPct val="100000"/>
              </a:lnSpc>
              <a:spcBef>
                <a:spcPts val="0"/>
              </a:spcBef>
              <a:spcAft>
                <a:spcPts val="0"/>
              </a:spcAft>
              <a:buClr>
                <a:schemeClr val="dk1"/>
              </a:buClr>
              <a:buSzPts val="900"/>
              <a:buFont typeface="Montserrat"/>
              <a:buChar char="●"/>
            </a:pPr>
            <a:r>
              <a:rPr lang="en-GB" sz="900">
                <a:solidFill>
                  <a:schemeClr val="dk1"/>
                </a:solidFill>
                <a:latin typeface="Montserrat"/>
                <a:ea typeface="Montserrat"/>
                <a:cs typeface="Montserrat"/>
                <a:sym typeface="Montserrat"/>
              </a:rPr>
              <a:t>Un outil de monitoring efficace, capable d'identifier dynamiquement les fraudes.</a:t>
            </a:r>
            <a:endParaRPr sz="900">
              <a:solidFill>
                <a:schemeClr val="dk1"/>
              </a:solidFill>
              <a:latin typeface="Montserrat"/>
              <a:ea typeface="Montserrat"/>
              <a:cs typeface="Montserrat"/>
              <a:sym typeface="Montserrat"/>
            </a:endParaRPr>
          </a:p>
          <a:p>
            <a:pPr indent="-143551" lvl="0" marL="172800" marR="0" rtl="0" algn="just">
              <a:lnSpc>
                <a:spcPct val="100000"/>
              </a:lnSpc>
              <a:spcBef>
                <a:spcPts val="0"/>
              </a:spcBef>
              <a:spcAft>
                <a:spcPts val="0"/>
              </a:spcAft>
              <a:buClr>
                <a:schemeClr val="dk1"/>
              </a:buClr>
              <a:buSzPts val="900"/>
              <a:buFont typeface="Montserrat"/>
              <a:buChar char="●"/>
            </a:pPr>
            <a:r>
              <a:rPr lang="en-GB" sz="900">
                <a:solidFill>
                  <a:schemeClr val="dk1"/>
                </a:solidFill>
                <a:latin typeface="Montserrat"/>
                <a:ea typeface="Montserrat"/>
                <a:cs typeface="Montserrat"/>
                <a:sym typeface="Montserrat"/>
              </a:rPr>
              <a:t>Les engins sous contrôle sont vérifiés et analysés rapidement.</a:t>
            </a:r>
            <a:endParaRPr sz="900">
              <a:solidFill>
                <a:schemeClr val="dk1"/>
              </a:solidFill>
              <a:latin typeface="Montserrat"/>
              <a:ea typeface="Montserrat"/>
              <a:cs typeface="Montserrat"/>
              <a:sym typeface="Montserrat"/>
            </a:endParaRPr>
          </a:p>
        </p:txBody>
      </p:sp>
      <p:sp>
        <p:nvSpPr>
          <p:cNvPr id="133" name="Google Shape;133;p16"/>
          <p:cNvSpPr txBox="1"/>
          <p:nvPr/>
        </p:nvSpPr>
        <p:spPr>
          <a:xfrm>
            <a:off x="1653950" y="4075650"/>
            <a:ext cx="965100" cy="32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lang="en-GB" sz="1100">
                <a:latin typeface="Montserrat"/>
                <a:ea typeface="Montserrat"/>
                <a:cs typeface="Montserrat"/>
                <a:sym typeface="Montserrat"/>
              </a:rPr>
              <a:t>Secteur public</a:t>
            </a:r>
            <a:endParaRPr b="1" i="0" sz="1100" u="none" cap="none" strike="noStrike">
              <a:solidFill>
                <a:srgbClr val="000000"/>
              </a:solidFill>
              <a:latin typeface="Montserrat"/>
              <a:ea typeface="Montserrat"/>
              <a:cs typeface="Montserrat"/>
              <a:sym typeface="Montserrat"/>
            </a:endParaRPr>
          </a:p>
        </p:txBody>
      </p:sp>
      <p:pic>
        <p:nvPicPr>
          <p:cNvPr id="134" name="Google Shape;134;p16"/>
          <p:cNvPicPr preferRelativeResize="0"/>
          <p:nvPr/>
        </p:nvPicPr>
        <p:blipFill rotWithShape="1">
          <a:blip r:embed="rId3">
            <a:alphaModFix/>
          </a:blip>
          <a:srcRect b="15782" l="0" r="0" t="0"/>
          <a:stretch/>
        </p:blipFill>
        <p:spPr>
          <a:xfrm>
            <a:off x="1325192" y="4075689"/>
            <a:ext cx="383889" cy="323319"/>
          </a:xfrm>
          <a:prstGeom prst="rect">
            <a:avLst/>
          </a:prstGeom>
          <a:noFill/>
          <a:ln>
            <a:noFill/>
          </a:ln>
        </p:spPr>
      </p:pic>
      <p:grpSp>
        <p:nvGrpSpPr>
          <p:cNvPr id="135" name="Google Shape;135;p16"/>
          <p:cNvGrpSpPr/>
          <p:nvPr/>
        </p:nvGrpSpPr>
        <p:grpSpPr>
          <a:xfrm>
            <a:off x="770461" y="4537214"/>
            <a:ext cx="1595065" cy="363248"/>
            <a:chOff x="733185" y="4537214"/>
            <a:chExt cx="1595065" cy="363248"/>
          </a:xfrm>
        </p:grpSpPr>
        <p:grpSp>
          <p:nvGrpSpPr>
            <p:cNvPr id="136" name="Google Shape;136;p16"/>
            <p:cNvGrpSpPr/>
            <p:nvPr/>
          </p:nvGrpSpPr>
          <p:grpSpPr>
            <a:xfrm>
              <a:off x="733185" y="4537214"/>
              <a:ext cx="386073" cy="363248"/>
              <a:chOff x="311150" y="1147763"/>
              <a:chExt cx="669800" cy="671562"/>
            </a:xfrm>
          </p:grpSpPr>
          <p:sp>
            <p:nvSpPr>
              <p:cNvPr id="137" name="Google Shape;137;p16"/>
              <p:cNvSpPr/>
              <p:nvPr/>
            </p:nvSpPr>
            <p:spPr>
              <a:xfrm>
                <a:off x="311150" y="1350963"/>
                <a:ext cx="324000" cy="468300"/>
              </a:xfrm>
              <a:custGeom>
                <a:rect b="b" l="l" r="r" t="t"/>
                <a:pathLst>
                  <a:path extrusionOk="0" h="120000" w="120000">
                    <a:moveTo>
                      <a:pt x="119999" y="120000"/>
                    </a:moveTo>
                    <a:cubicBezTo>
                      <a:pt x="53684" y="118536"/>
                      <a:pt x="0" y="80487"/>
                      <a:pt x="0" y="33658"/>
                    </a:cubicBezTo>
                    <a:cubicBezTo>
                      <a:pt x="0" y="21951"/>
                      <a:pt x="4210" y="10243"/>
                      <a:pt x="10526" y="0"/>
                    </a:cubicBezTo>
                    <a:cubicBezTo>
                      <a:pt x="35789" y="6585"/>
                      <a:pt x="35789" y="6585"/>
                      <a:pt x="35789" y="6585"/>
                    </a:cubicBezTo>
                    <a:cubicBezTo>
                      <a:pt x="30526" y="14634"/>
                      <a:pt x="27368" y="24146"/>
                      <a:pt x="27368" y="33658"/>
                    </a:cubicBezTo>
                    <a:cubicBezTo>
                      <a:pt x="27368" y="70243"/>
                      <a:pt x="68421" y="99512"/>
                      <a:pt x="119999" y="100975"/>
                    </a:cubicBezTo>
                    <a:lnTo>
                      <a:pt x="119999" y="12000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sp>
            <p:nvSpPr>
              <p:cNvPr id="138" name="Google Shape;138;p16"/>
              <p:cNvSpPr/>
              <p:nvPr/>
            </p:nvSpPr>
            <p:spPr>
              <a:xfrm>
                <a:off x="641350" y="1147763"/>
                <a:ext cx="339600" cy="436500"/>
              </a:xfrm>
              <a:custGeom>
                <a:rect b="b" l="l" r="r" t="t"/>
                <a:pathLst>
                  <a:path extrusionOk="0" h="120000" w="120000">
                    <a:moveTo>
                      <a:pt x="1008" y="0"/>
                    </a:moveTo>
                    <a:cubicBezTo>
                      <a:pt x="66554" y="0"/>
                      <a:pt x="120000" y="41568"/>
                      <a:pt x="120000" y="91764"/>
                    </a:cubicBezTo>
                    <a:cubicBezTo>
                      <a:pt x="120000" y="101960"/>
                      <a:pt x="117983" y="111372"/>
                      <a:pt x="113949" y="120000"/>
                    </a:cubicBezTo>
                    <a:cubicBezTo>
                      <a:pt x="113949" y="120000"/>
                      <a:pt x="113949" y="120000"/>
                      <a:pt x="113949" y="120000"/>
                    </a:cubicBezTo>
                    <a:cubicBezTo>
                      <a:pt x="89747" y="112941"/>
                      <a:pt x="89747" y="112941"/>
                      <a:pt x="89747" y="112941"/>
                    </a:cubicBezTo>
                    <a:cubicBezTo>
                      <a:pt x="89747" y="112941"/>
                      <a:pt x="89747" y="112941"/>
                      <a:pt x="89747" y="112941"/>
                    </a:cubicBezTo>
                    <a:cubicBezTo>
                      <a:pt x="91764" y="106666"/>
                      <a:pt x="93781" y="99607"/>
                      <a:pt x="93781" y="91764"/>
                    </a:cubicBezTo>
                    <a:cubicBezTo>
                      <a:pt x="93781" y="52549"/>
                      <a:pt x="52436" y="20392"/>
                      <a:pt x="1008" y="20392"/>
                    </a:cubicBezTo>
                    <a:cubicBezTo>
                      <a:pt x="1008" y="20392"/>
                      <a:pt x="1008" y="20392"/>
                      <a:pt x="0" y="20392"/>
                    </a:cubicBezTo>
                    <a:cubicBezTo>
                      <a:pt x="0" y="20392"/>
                      <a:pt x="0" y="20392"/>
                      <a:pt x="0" y="20392"/>
                    </a:cubicBezTo>
                    <a:cubicBezTo>
                      <a:pt x="1008" y="0"/>
                      <a:pt x="1008" y="0"/>
                      <a:pt x="1008" y="0"/>
                    </a:cubicBezTo>
                    <a:cubicBezTo>
                      <a:pt x="1008" y="0"/>
                      <a:pt x="1008" y="0"/>
                      <a:pt x="1008" y="0"/>
                    </a:cubicBezTo>
                    <a:cubicBezTo>
                      <a:pt x="1008" y="0"/>
                      <a:pt x="1008" y="0"/>
                      <a:pt x="1008" y="0"/>
                    </a:cubicBez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sp>
            <p:nvSpPr>
              <p:cNvPr id="139" name="Google Shape;139;p16"/>
              <p:cNvSpPr/>
              <p:nvPr/>
            </p:nvSpPr>
            <p:spPr>
              <a:xfrm>
                <a:off x="601663" y="1439863"/>
                <a:ext cx="85800" cy="87300"/>
              </a:xfrm>
              <a:prstGeom prst="ellipse">
                <a:avLst/>
              </a:pr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sp>
            <p:nvSpPr>
              <p:cNvPr id="140" name="Google Shape;140;p16"/>
              <p:cNvSpPr/>
              <p:nvPr/>
            </p:nvSpPr>
            <p:spPr>
              <a:xfrm>
                <a:off x="635000" y="1558925"/>
                <a:ext cx="328500" cy="260400"/>
              </a:xfrm>
              <a:custGeom>
                <a:rect b="b" l="l" r="r" t="t"/>
                <a:pathLst>
                  <a:path extrusionOk="0" h="120000" w="120000">
                    <a:moveTo>
                      <a:pt x="120000" y="11868"/>
                    </a:moveTo>
                    <a:cubicBezTo>
                      <a:pt x="104347" y="75164"/>
                      <a:pt x="58434" y="120000"/>
                      <a:pt x="3130" y="120000"/>
                    </a:cubicBezTo>
                    <a:cubicBezTo>
                      <a:pt x="2086" y="120000"/>
                      <a:pt x="1043" y="120000"/>
                      <a:pt x="0" y="120000"/>
                    </a:cubicBezTo>
                    <a:cubicBezTo>
                      <a:pt x="0" y="120000"/>
                      <a:pt x="0" y="120000"/>
                      <a:pt x="0" y="120000"/>
                    </a:cubicBezTo>
                    <a:cubicBezTo>
                      <a:pt x="0" y="85714"/>
                      <a:pt x="0" y="85714"/>
                      <a:pt x="0" y="85714"/>
                    </a:cubicBezTo>
                    <a:cubicBezTo>
                      <a:pt x="0" y="85714"/>
                      <a:pt x="0" y="85714"/>
                      <a:pt x="0" y="85714"/>
                    </a:cubicBezTo>
                    <a:cubicBezTo>
                      <a:pt x="1043" y="85714"/>
                      <a:pt x="2086" y="85714"/>
                      <a:pt x="3130" y="85714"/>
                    </a:cubicBezTo>
                    <a:cubicBezTo>
                      <a:pt x="46956" y="85714"/>
                      <a:pt x="82434" y="50109"/>
                      <a:pt x="94956" y="0"/>
                    </a:cubicBezTo>
                    <a:lnTo>
                      <a:pt x="120000" y="11868"/>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sp>
            <p:nvSpPr>
              <p:cNvPr id="141" name="Google Shape;141;p16"/>
              <p:cNvSpPr/>
              <p:nvPr/>
            </p:nvSpPr>
            <p:spPr>
              <a:xfrm>
                <a:off x="339725" y="1147763"/>
                <a:ext cx="304800" cy="228600"/>
              </a:xfrm>
              <a:custGeom>
                <a:rect b="b" l="l" r="r" t="t"/>
                <a:pathLst>
                  <a:path extrusionOk="0" h="120000" w="120000">
                    <a:moveTo>
                      <a:pt x="118878" y="39000"/>
                    </a:moveTo>
                    <a:cubicBezTo>
                      <a:pt x="78504" y="39000"/>
                      <a:pt x="42616" y="72000"/>
                      <a:pt x="26915" y="120000"/>
                    </a:cubicBezTo>
                    <a:cubicBezTo>
                      <a:pt x="26915" y="120000"/>
                      <a:pt x="26915" y="120000"/>
                      <a:pt x="26915" y="120000"/>
                    </a:cubicBezTo>
                    <a:cubicBezTo>
                      <a:pt x="0" y="106500"/>
                      <a:pt x="0" y="106500"/>
                      <a:pt x="0" y="106500"/>
                    </a:cubicBezTo>
                    <a:cubicBezTo>
                      <a:pt x="0" y="106500"/>
                      <a:pt x="0" y="106500"/>
                      <a:pt x="0" y="106500"/>
                    </a:cubicBezTo>
                    <a:cubicBezTo>
                      <a:pt x="20186" y="43500"/>
                      <a:pt x="66168" y="1500"/>
                      <a:pt x="120000" y="0"/>
                    </a:cubicBezTo>
                    <a:lnTo>
                      <a:pt x="118878" y="3900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sp>
            <p:nvSpPr>
              <p:cNvPr id="142" name="Google Shape;142;p16"/>
              <p:cNvSpPr/>
              <p:nvPr/>
            </p:nvSpPr>
            <p:spPr>
              <a:xfrm>
                <a:off x="647700" y="1241425"/>
                <a:ext cx="58800" cy="206400"/>
              </a:xfrm>
              <a:custGeom>
                <a:rect b="b" l="l" r="r" t="t"/>
                <a:pathLst>
                  <a:path extrusionOk="0" h="120000" w="120000">
                    <a:moveTo>
                      <a:pt x="120000" y="0"/>
                    </a:moveTo>
                    <a:cubicBezTo>
                      <a:pt x="120000" y="40000"/>
                      <a:pt x="120000" y="40000"/>
                      <a:pt x="120000" y="40000"/>
                    </a:cubicBezTo>
                    <a:cubicBezTo>
                      <a:pt x="114285" y="80000"/>
                      <a:pt x="114285" y="80000"/>
                      <a:pt x="114285" y="80000"/>
                    </a:cubicBezTo>
                    <a:cubicBezTo>
                      <a:pt x="57142" y="115000"/>
                      <a:pt x="57142" y="115000"/>
                      <a:pt x="57142" y="115000"/>
                    </a:cubicBezTo>
                    <a:cubicBezTo>
                      <a:pt x="45714" y="120000"/>
                      <a:pt x="45714" y="120000"/>
                      <a:pt x="45714" y="120000"/>
                    </a:cubicBezTo>
                    <a:cubicBezTo>
                      <a:pt x="34285" y="118333"/>
                      <a:pt x="17142" y="116666"/>
                      <a:pt x="0" y="115000"/>
                    </a:cubicBezTo>
                    <a:cubicBezTo>
                      <a:pt x="0" y="111666"/>
                      <a:pt x="0" y="111666"/>
                      <a:pt x="0" y="111666"/>
                    </a:cubicBezTo>
                    <a:cubicBezTo>
                      <a:pt x="5714" y="71666"/>
                      <a:pt x="5714" y="71666"/>
                      <a:pt x="5714" y="71666"/>
                    </a:cubicBezTo>
                    <a:cubicBezTo>
                      <a:pt x="62857" y="35000"/>
                      <a:pt x="62857" y="35000"/>
                      <a:pt x="62857" y="35000"/>
                    </a:cubicBezTo>
                    <a:lnTo>
                      <a:pt x="120000"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sp>
            <p:nvSpPr>
              <p:cNvPr id="143" name="Google Shape;143;p16"/>
              <p:cNvSpPr/>
              <p:nvPr/>
            </p:nvSpPr>
            <p:spPr>
              <a:xfrm>
                <a:off x="450850" y="1516063"/>
                <a:ext cx="176100" cy="126900"/>
              </a:xfrm>
              <a:custGeom>
                <a:rect b="b" l="l" r="r" t="t"/>
                <a:pathLst>
                  <a:path extrusionOk="0" h="120000" w="120000">
                    <a:moveTo>
                      <a:pt x="0" y="120000"/>
                    </a:moveTo>
                    <a:cubicBezTo>
                      <a:pt x="29032" y="76363"/>
                      <a:pt x="29032" y="76363"/>
                      <a:pt x="29032" y="76363"/>
                    </a:cubicBezTo>
                    <a:cubicBezTo>
                      <a:pt x="56129" y="35454"/>
                      <a:pt x="56129" y="35454"/>
                      <a:pt x="56129" y="35454"/>
                    </a:cubicBezTo>
                    <a:cubicBezTo>
                      <a:pt x="94838" y="10909"/>
                      <a:pt x="94838" y="10909"/>
                      <a:pt x="94838" y="10909"/>
                    </a:cubicBezTo>
                    <a:cubicBezTo>
                      <a:pt x="112258" y="0"/>
                      <a:pt x="112258" y="0"/>
                      <a:pt x="112258" y="0"/>
                    </a:cubicBezTo>
                    <a:cubicBezTo>
                      <a:pt x="114193" y="2727"/>
                      <a:pt x="118064" y="2727"/>
                      <a:pt x="120000" y="5454"/>
                    </a:cubicBezTo>
                    <a:cubicBezTo>
                      <a:pt x="104516" y="30000"/>
                      <a:pt x="104516" y="30000"/>
                      <a:pt x="104516" y="30000"/>
                    </a:cubicBezTo>
                    <a:cubicBezTo>
                      <a:pt x="77419" y="73636"/>
                      <a:pt x="77419" y="73636"/>
                      <a:pt x="77419" y="73636"/>
                    </a:cubicBezTo>
                    <a:cubicBezTo>
                      <a:pt x="38709" y="95454"/>
                      <a:pt x="38709" y="95454"/>
                      <a:pt x="38709" y="95454"/>
                    </a:cubicBezTo>
                    <a:lnTo>
                      <a:pt x="0" y="12000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Calibri"/>
                  <a:ea typeface="Calibri"/>
                  <a:cs typeface="Calibri"/>
                  <a:sym typeface="Calibri"/>
                </a:endParaRPr>
              </a:p>
            </p:txBody>
          </p:sp>
        </p:grpSp>
        <p:sp>
          <p:nvSpPr>
            <p:cNvPr id="144" name="Google Shape;144;p16"/>
            <p:cNvSpPr txBox="1"/>
            <p:nvPr/>
          </p:nvSpPr>
          <p:spPr>
            <a:xfrm>
              <a:off x="1119250" y="4561750"/>
              <a:ext cx="12090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Montserrat"/>
                  <a:ea typeface="Montserrat"/>
                  <a:cs typeface="Montserrat"/>
                  <a:sym typeface="Montserrat"/>
                </a:rPr>
                <a:t>202</a:t>
              </a:r>
              <a:r>
                <a:rPr lang="en-GB" sz="1000">
                  <a:latin typeface="Montserrat"/>
                  <a:ea typeface="Montserrat"/>
                  <a:cs typeface="Montserrat"/>
                  <a:sym typeface="Montserrat"/>
                </a:rPr>
                <a:t>5</a:t>
              </a:r>
              <a:r>
                <a:rPr b="0" i="0" lang="en-GB" sz="1000" u="none" cap="none" strike="noStrike">
                  <a:solidFill>
                    <a:srgbClr val="000000"/>
                  </a:solidFill>
                  <a:latin typeface="Montserrat"/>
                  <a:ea typeface="Montserrat"/>
                  <a:cs typeface="Montserrat"/>
                  <a:sym typeface="Montserrat"/>
                </a:rPr>
                <a:t> </a:t>
              </a:r>
              <a:endParaRPr b="0" i="0" sz="1000" u="none" cap="none" strike="noStrike">
                <a:solidFill>
                  <a:srgbClr val="000000"/>
                </a:solidFill>
                <a:latin typeface="Montserrat"/>
                <a:ea typeface="Montserrat"/>
                <a:cs typeface="Montserrat"/>
                <a:sym typeface="Montserrat"/>
              </a:endParaRPr>
            </a:p>
          </p:txBody>
        </p:sp>
      </p:grpSp>
      <p:pic>
        <p:nvPicPr>
          <p:cNvPr id="145" name="Google Shape;145;p16"/>
          <p:cNvPicPr preferRelativeResize="0"/>
          <p:nvPr/>
        </p:nvPicPr>
        <p:blipFill rotWithShape="1">
          <a:blip r:embed="rId4">
            <a:alphaModFix/>
          </a:blip>
          <a:srcRect b="0" l="0" r="0" t="0"/>
          <a:stretch/>
        </p:blipFill>
        <p:spPr>
          <a:xfrm>
            <a:off x="105996" y="4776975"/>
            <a:ext cx="229582" cy="229800"/>
          </a:xfrm>
          <a:prstGeom prst="rect">
            <a:avLst/>
          </a:prstGeom>
          <a:noFill/>
          <a:ln>
            <a:noFill/>
          </a:ln>
        </p:spPr>
      </p:pic>
      <p:pic>
        <p:nvPicPr>
          <p:cNvPr id="146" name="Google Shape;146;p16" title="1.jpg"/>
          <p:cNvPicPr preferRelativeResize="0"/>
          <p:nvPr/>
        </p:nvPicPr>
        <p:blipFill rotWithShape="1">
          <a:blip r:embed="rId5">
            <a:alphaModFix/>
          </a:blip>
          <a:srcRect b="0" l="18494" r="18494" t="0"/>
          <a:stretch/>
        </p:blipFill>
        <p:spPr>
          <a:xfrm>
            <a:off x="-319325" y="-883725"/>
            <a:ext cx="3162900" cy="2977200"/>
          </a:xfrm>
          <a:prstGeom prst="ellipse">
            <a:avLst/>
          </a:prstGeom>
          <a:noFill/>
          <a:ln>
            <a:noFill/>
          </a:ln>
        </p:spPr>
      </p:pic>
      <p:pic>
        <p:nvPicPr>
          <p:cNvPr id="147" name="Google Shape;147;p16" title="images.jpg"/>
          <p:cNvPicPr preferRelativeResize="0"/>
          <p:nvPr/>
        </p:nvPicPr>
        <p:blipFill>
          <a:blip r:embed="rId6">
            <a:alphaModFix/>
          </a:blip>
          <a:stretch>
            <a:fillRect/>
          </a:stretch>
        </p:blipFill>
        <p:spPr>
          <a:xfrm>
            <a:off x="635000" y="3920100"/>
            <a:ext cx="634500" cy="634500"/>
          </a:xfrm>
          <a:prstGeom prst="rect">
            <a:avLst/>
          </a:prstGeom>
          <a:noFill/>
          <a:ln>
            <a:noFill/>
          </a:ln>
        </p:spPr>
      </p:pic>
      <p:pic>
        <p:nvPicPr>
          <p:cNvPr id="148" name="Google Shape;148;p16"/>
          <p:cNvPicPr preferRelativeResize="0"/>
          <p:nvPr/>
        </p:nvPicPr>
        <p:blipFill>
          <a:blip r:embed="rId7">
            <a:alphaModFix/>
          </a:blip>
          <a:stretch>
            <a:fillRect/>
          </a:stretch>
        </p:blipFill>
        <p:spPr>
          <a:xfrm>
            <a:off x="1084468" y="2170725"/>
            <a:ext cx="736504" cy="393094"/>
          </a:xfrm>
          <a:prstGeom prst="rect">
            <a:avLst/>
          </a:prstGeom>
          <a:noFill/>
          <a:ln>
            <a:noFill/>
          </a:ln>
        </p:spPr>
      </p:pic>
      <p:sp>
        <p:nvSpPr>
          <p:cNvPr id="149" name="Google Shape;149;p16"/>
          <p:cNvSpPr txBox="1"/>
          <p:nvPr/>
        </p:nvSpPr>
        <p:spPr>
          <a:xfrm>
            <a:off x="394751" y="2641075"/>
            <a:ext cx="3000000" cy="338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GB" sz="1000">
                <a:solidFill>
                  <a:schemeClr val="dk1"/>
                </a:solidFill>
                <a:latin typeface="Montserrat"/>
                <a:ea typeface="Montserrat"/>
                <a:cs typeface="Montserrat"/>
                <a:sym typeface="Montserrat"/>
              </a:rPr>
              <a:t>Water Sustainability Platform</a:t>
            </a:r>
            <a:endParaRPr/>
          </a:p>
        </p:txBody>
      </p:sp>
      <p:sp>
        <p:nvSpPr>
          <p:cNvPr id="150" name="Google Shape;150;p16"/>
          <p:cNvSpPr txBox="1"/>
          <p:nvPr/>
        </p:nvSpPr>
        <p:spPr>
          <a:xfrm>
            <a:off x="8394208" y="4617617"/>
            <a:ext cx="5487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GB" sz="1000">
                <a:solidFill>
                  <a:srgbClr val="595959"/>
                </a:solidFill>
                <a:latin typeface="Montserrat"/>
                <a:ea typeface="Montserrat"/>
                <a:cs typeface="Montserrat"/>
                <a:sym typeface="Montserrat"/>
              </a:rPr>
              <a:t>‹#›</a:t>
            </a:fld>
            <a:endParaRPr b="1" sz="1000">
              <a:solidFill>
                <a:srgbClr val="595959"/>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